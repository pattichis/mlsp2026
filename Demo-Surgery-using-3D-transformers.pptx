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2" r:id="rId4"/>
    <p:sldId id="263" r:id="rId5"/>
    <p:sldId id="260" r:id="rId6"/>
    <p:sldId id="266" r:id="rId7"/>
    <p:sldId id="259" r:id="rId8"/>
    <p:sldId id="258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11"/>
    <p:restoredTop sz="94657"/>
  </p:normalViewPr>
  <p:slideViewPr>
    <p:cSldViewPr snapToGrid="0">
      <p:cViewPr varScale="1">
        <p:scale>
          <a:sx n="148" d="100"/>
          <a:sy n="148" d="100"/>
        </p:scale>
        <p:origin x="32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B739C-D644-B2AA-9C23-C713C38D01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7AAE45-8CFE-652C-B6AA-F5BEABC3D6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C16D67-04BA-3C60-CA5B-253E63C95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C4E74-9351-634C-A74B-9155F48A42A5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CB3D10-AD59-BBC4-C9FA-8A8EB437E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8CEAC0-CFB6-E18C-9B0D-53D921184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95151-47C7-864C-BFD4-992DF33B5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492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D53A6-C5B4-F3B5-F7B8-1AB92CD71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DE7F0-E342-6AAB-65BD-9A2C779C3A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5D5978-6129-E99B-E4F4-FF5945894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C4E74-9351-634C-A74B-9155F48A42A5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020C2F-668D-B5A5-7893-5F18ACF18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5925A-88AA-769C-44E7-E22016036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95151-47C7-864C-BFD4-992DF33B5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669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1245B-C912-F38B-0EB7-0389A8761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31EC4A-556C-9AD5-A4C4-795707DEBA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661026-E863-DD1C-3B49-05370CF49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C4E74-9351-634C-A74B-9155F48A42A5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16935F-CACE-419D-C017-BBC199797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506A8-C0BF-27DD-2C54-94BD370AC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95151-47C7-864C-BFD4-992DF33B5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368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D757C-EFA1-8CBD-D342-A6FC2CB1B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EE6F90-9973-7A0A-EE0D-0A6C8B1E6F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CAFF2-89DF-AB85-3193-CAFDCE6AF7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D7526E-5AE0-48D3-1398-69A731A51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C4E74-9351-634C-A74B-9155F48A42A5}" type="datetimeFigureOut">
              <a:rPr lang="en-US" smtClean="0"/>
              <a:t>9/27/26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53FFFE-D056-53A6-B27B-EEBE8E41E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87557D-2DAF-A4FD-DD4B-59E7FC234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95151-47C7-864C-BFD4-992DF33B5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988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99F9C-B125-A3EC-9FFC-E2A9F2BE0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46B332-DB21-1BA2-DFEF-DDDB69C5D1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F78F40-22AC-2A20-6FCE-303E58DC98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F2E1CB-6E99-C805-6CBA-8ED9CD4DC4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C296EA-7CBA-0CAA-BCBF-9CE4DB14B8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000066-FF7D-AF30-80D7-0E9FB944E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C4E74-9351-634C-A74B-9155F48A42A5}" type="datetimeFigureOut">
              <a:rPr lang="en-US" smtClean="0"/>
              <a:t>9/27/26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2AAF07-0B5D-B06E-0764-F56F32EF9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B6FF67-46C8-FA03-69BF-53B093EB0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95151-47C7-864C-BFD4-992DF33B5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605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4D55C-22AE-432A-DC2F-171698233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EDDDC9-85E2-F25B-CA12-1958D884D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C4E74-9351-634C-A74B-9155F48A42A5}" type="datetimeFigureOut">
              <a:rPr lang="en-US" smtClean="0"/>
              <a:t>9/27/26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2B9F5-CC98-3324-4422-932CCF0F9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7C3773-677B-7B4E-34FD-531D73DE9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95151-47C7-864C-BFD4-992DF33B5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550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4EF8C1-5405-D3C6-35B0-B4C774332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C4E74-9351-634C-A74B-9155F48A42A5}" type="datetimeFigureOut">
              <a:rPr lang="en-US" smtClean="0"/>
              <a:t>9/27/26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29E67F-1862-F7EC-C408-859FBB57F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7A7C93-063F-741A-2118-5961AF104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95151-47C7-864C-BFD4-992DF33B5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040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66B22-1EF5-6DE6-B649-04B64CA08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98363-AC2F-8338-CE72-0B20918D93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92477D-F43D-F987-E424-48E78A3C38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E834B3-4799-6399-C6C0-543E5B2AF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C4E74-9351-634C-A74B-9155F48A42A5}" type="datetimeFigureOut">
              <a:rPr lang="en-US" smtClean="0"/>
              <a:t>9/27/26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C4980D-755E-FF79-3857-3BDD1AA8C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463F37-A884-538E-57F5-3D04BF3D3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95151-47C7-864C-BFD4-992DF33B5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912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E247F-2AAC-F220-A28B-43BDD2284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68F0F0-2FFA-7EDF-4296-4ADAB6E0E96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AD7EB0-E5F2-5330-BBBB-5BF555CAFD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789EFB-15AA-823D-2991-459E3A2BE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C4E74-9351-634C-A74B-9155F48A42A5}" type="datetimeFigureOut">
              <a:rPr lang="en-US" smtClean="0"/>
              <a:t>9/27/26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10795D-800C-22E1-B06E-1C4FFFC3C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F9C369-2933-761F-3EF1-FA884DDDF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95151-47C7-864C-BFD4-992DF33B5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096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B147C-9D34-0200-E42B-47BEB45F6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6E28C7-0D5F-7470-3350-56A1955D4C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6A7083-943B-383B-1010-5E0EB8879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C4E74-9351-634C-A74B-9155F48A42A5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B2333-F470-F771-E315-DC61D1A6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253CB-522A-B1C8-4067-1A15C4641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95151-47C7-864C-BFD4-992DF33B5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419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0DB59C-DE3C-C75E-24BA-8204E887AE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342238-4B94-130F-EE2F-DB3F8E43C1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47958E-291C-7DC2-0106-EA01C576B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FC4E74-9351-634C-A74B-9155F48A42A5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0EC728-71C1-1F88-1007-0AFE9992A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50F938-932D-7FDA-F69E-09F69C273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95151-47C7-864C-BFD4-992DF33B5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428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0A9BE5-B507-7610-2BA5-1D66204A6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9B6F5D-873C-4B9F-59D2-EA7B63E6FA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35ED6-79AE-44DA-260F-3AB51FE63B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FC4E74-9351-634C-A74B-9155F48A42A5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24439F-3E90-078C-770E-F1E3625E50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44CE25-0DE7-8C8C-41E0-28464198B6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E95151-47C7-864C-BFD4-992DF33B51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451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914E1-9765-1505-AEE5-7A351C4F32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5920" y="939483"/>
            <a:ext cx="9144000" cy="2387600"/>
          </a:xfrm>
        </p:spPr>
        <p:txBody>
          <a:bodyPr/>
          <a:lstStyle/>
          <a:p>
            <a:r>
              <a:rPr lang="en-US" dirty="0"/>
              <a:t>A demo of 3D transformers for surgical video guidance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550C13-7E07-37A0-6FA0-A0D9B622C8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Marios S. Pattichis</a:t>
            </a:r>
          </a:p>
          <a:p>
            <a:r>
              <a:rPr lang="en-US" dirty="0"/>
              <a:t>Department of Electrical and Computer Engineering</a:t>
            </a:r>
          </a:p>
          <a:p>
            <a:r>
              <a:rPr lang="en-US" dirty="0"/>
              <a:t>The University of New Mexico, USA</a:t>
            </a:r>
          </a:p>
        </p:txBody>
      </p:sp>
    </p:spTree>
    <p:extLst>
      <p:ext uri="{BB962C8B-B14F-4D97-AF65-F5344CB8AC3E}">
        <p14:creationId xmlns:p14="http://schemas.microsoft.com/office/powerpoint/2010/main" val="198054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B0824-5331-0C99-EE21-F092C8FDC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343" y="10064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Goal: Guide surgeon to gallbladder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95BE47A-7B39-8990-6D1F-01CC99A1BA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9" y="1219457"/>
            <a:ext cx="3363685" cy="48919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3FC43BA-AD9F-AA59-8374-5933945B1121}"/>
              </a:ext>
            </a:extLst>
          </p:cNvPr>
          <p:cNvSpPr txBox="1"/>
          <p:nvPr/>
        </p:nvSpPr>
        <p:spPr>
          <a:xfrm>
            <a:off x="2895600" y="6215731"/>
            <a:ext cx="8555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 taken from https://</a:t>
            </a:r>
            <a:r>
              <a:rPr lang="en-US" dirty="0" err="1"/>
              <a:t>my.clevelandclinic.org</a:t>
            </a:r>
            <a:r>
              <a:rPr lang="en-US" dirty="0"/>
              <a:t>/health/procedures/cholecystostomy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4E68B5-EC19-6AB5-BF83-5AAC7ABC22B6}"/>
              </a:ext>
            </a:extLst>
          </p:cNvPr>
          <p:cNvSpPr txBox="1"/>
          <p:nvPr/>
        </p:nvSpPr>
        <p:spPr>
          <a:xfrm>
            <a:off x="446316" y="1426210"/>
            <a:ext cx="7750628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Training Dataset:</a:t>
            </a:r>
          </a:p>
          <a:p>
            <a:pPr marL="457200" indent="-457200">
              <a:buAutoNum type="arabicPeriod"/>
            </a:pPr>
            <a:r>
              <a:rPr lang="en-US" sz="2000" dirty="0"/>
              <a:t>Create a simulated video of moving away from the bladder.</a:t>
            </a:r>
          </a:p>
          <a:p>
            <a:pPr marL="457200" indent="-457200">
              <a:buAutoNum type="arabicPeriod"/>
            </a:pPr>
            <a:r>
              <a:rPr lang="en-US" sz="2000" dirty="0"/>
              <a:t>Set ground truth to opposite direction that moves us closer.</a:t>
            </a:r>
          </a:p>
          <a:p>
            <a:endParaRPr lang="en-US" sz="2000" dirty="0"/>
          </a:p>
          <a:p>
            <a:r>
              <a:rPr lang="en-US" sz="2000" dirty="0"/>
              <a:t>Testing Dataset:</a:t>
            </a:r>
          </a:p>
          <a:p>
            <a:pPr marL="457200" indent="-457200">
              <a:buAutoNum type="arabicPeriod"/>
            </a:pPr>
            <a:r>
              <a:rPr lang="en-US" sz="2000" dirty="0"/>
              <a:t>Full video.</a:t>
            </a:r>
          </a:p>
          <a:p>
            <a:pPr marL="457200" indent="-457200">
              <a:buAutoNum type="arabicPeriod"/>
            </a:pPr>
            <a:r>
              <a:rPr lang="en-US" sz="2000" dirty="0"/>
              <a:t>Last frame duplicated.</a:t>
            </a:r>
          </a:p>
          <a:p>
            <a:pPr marL="457200" indent="-457200">
              <a:buAutoNum type="arabicPeriod"/>
            </a:pPr>
            <a:r>
              <a:rPr lang="en-US" sz="2000" dirty="0"/>
              <a:t>First frame duplicated.</a:t>
            </a:r>
          </a:p>
          <a:p>
            <a:pPr marL="457200" indent="-457200">
              <a:buAutoNum type="arabicPeriod"/>
            </a:pPr>
            <a:r>
              <a:rPr lang="en-US" sz="2000" dirty="0"/>
              <a:t>Random </a:t>
            </a:r>
            <a:r>
              <a:rPr lang="en-US" sz="2000" dirty="0" err="1"/>
              <a:t>shuffing</a:t>
            </a:r>
            <a:r>
              <a:rPr lang="en-US" sz="2000" dirty="0"/>
              <a:t> of frames.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Architecture:</a:t>
            </a:r>
          </a:p>
          <a:p>
            <a:pPr marL="457200" indent="-457200">
              <a:buAutoNum type="arabicPeriod"/>
            </a:pPr>
            <a:r>
              <a:rPr lang="en-US" sz="2000" dirty="0"/>
              <a:t>Construct a 3D transformer architecture to process the videos.</a:t>
            </a:r>
          </a:p>
          <a:p>
            <a:pPr marL="457200" indent="-457200">
              <a:buAutoNum type="arabicPeriod"/>
            </a:pPr>
            <a:r>
              <a:rPr lang="en-US" sz="2000" dirty="0"/>
              <a:t>Add classification token for last output to select among directions.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4994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4F9D3-8DFE-0AA3-119F-6133B0B35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Simulated video example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A9CD5D4-1FFB-31A6-F9EE-AAAEF94829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719" y="1446314"/>
            <a:ext cx="12094281" cy="218447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0EDAA71-A05A-9E54-130A-558E706FD9BE}"/>
              </a:ext>
            </a:extLst>
          </p:cNvPr>
          <p:cNvSpPr txBox="1"/>
          <p:nvPr/>
        </p:nvSpPr>
        <p:spPr>
          <a:xfrm>
            <a:off x="235131" y="3988526"/>
            <a:ext cx="1069164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Input: </a:t>
            </a:r>
            <a:r>
              <a:rPr lang="en-US" sz="2400" dirty="0"/>
              <a:t> surgical videos with higher resolution </a:t>
            </a:r>
            <a:r>
              <a:rPr lang="en-US" sz="2400" b="1" dirty="0"/>
              <a:t>cropped </a:t>
            </a:r>
            <a:r>
              <a:rPr lang="en-US" sz="2400" dirty="0"/>
              <a:t>to 48x48 frames.</a:t>
            </a:r>
          </a:p>
          <a:p>
            <a:r>
              <a:rPr lang="en-US" sz="2400" b="1" dirty="0"/>
              <a:t>First-frame:</a:t>
            </a:r>
            <a:r>
              <a:rPr lang="en-US" sz="2400" dirty="0"/>
              <a:t> Gallbladder located in the lower-left.  </a:t>
            </a:r>
          </a:p>
          <a:p>
            <a:r>
              <a:rPr lang="en-US" sz="2400" b="1" dirty="0"/>
              <a:t>Remaining frames:</a:t>
            </a:r>
            <a:r>
              <a:rPr lang="en-US" sz="2400" dirty="0"/>
              <a:t> Moving to the upper-right over the full frame. Crop to 48x48.</a:t>
            </a:r>
          </a:p>
          <a:p>
            <a:r>
              <a:rPr lang="en-US" sz="2400" b="1" dirty="0"/>
              <a:t>Ground truth:</a:t>
            </a:r>
            <a:r>
              <a:rPr lang="en-US" sz="2400" dirty="0"/>
              <a:t> Correct upper-right movement by recommending down-left.</a:t>
            </a:r>
          </a:p>
          <a:p>
            <a:endParaRPr lang="en-US" sz="2400" dirty="0"/>
          </a:p>
          <a:p>
            <a:r>
              <a:rPr lang="en-US" sz="2400" b="1" dirty="0"/>
              <a:t>Limitation:</a:t>
            </a:r>
            <a:r>
              <a:rPr lang="en-US" sz="2400" dirty="0"/>
              <a:t> Only 8 directions considered here.</a:t>
            </a:r>
          </a:p>
        </p:txBody>
      </p:sp>
    </p:spTree>
    <p:extLst>
      <p:ext uri="{BB962C8B-B14F-4D97-AF65-F5344CB8AC3E}">
        <p14:creationId xmlns:p14="http://schemas.microsoft.com/office/powerpoint/2010/main" val="3218400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AB8CB-C22D-0749-2FE4-AAB80D6D0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Input video decomposed into segments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F265776-852A-F35D-6B94-29AE4C68C7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4692" y="1859710"/>
            <a:ext cx="11088944" cy="224202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806B858-50DD-002B-6A5E-5AD34B9C0D11}"/>
              </a:ext>
            </a:extLst>
          </p:cNvPr>
          <p:cNvSpPr txBox="1"/>
          <p:nvPr/>
        </p:nvSpPr>
        <p:spPr>
          <a:xfrm>
            <a:off x="315686" y="4606834"/>
            <a:ext cx="1173891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2000" dirty="0"/>
              <a:t>Conv3D uses a stride that is the same as the </a:t>
            </a:r>
            <a:r>
              <a:rPr lang="en-US" sz="2000" dirty="0" err="1"/>
              <a:t>tubelet</a:t>
            </a:r>
            <a:r>
              <a:rPr lang="en-US" sz="2000" dirty="0"/>
              <a:t> (=video segment) for non-overlapping segments.</a:t>
            </a:r>
          </a:p>
          <a:p>
            <a:pPr marL="457200" indent="-457200">
              <a:buAutoNum type="arabicPeriod"/>
            </a:pPr>
            <a:r>
              <a:rPr lang="en-US" sz="2000" dirty="0"/>
              <a:t>At the end, flattening turns them into vectors.</a:t>
            </a:r>
          </a:p>
          <a:p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01373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90FBF-FC3A-659F-7A4C-FF96A3C1A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Attention implementation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FF59264-BF3D-758C-4317-2CB4253315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043" y="1523999"/>
            <a:ext cx="11799914" cy="297825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141F140-FD3D-3B9D-6289-528DF9943B0D}"/>
              </a:ext>
            </a:extLst>
          </p:cNvPr>
          <p:cNvSpPr txBox="1"/>
          <p:nvPr/>
        </p:nvSpPr>
        <p:spPr>
          <a:xfrm>
            <a:off x="296092" y="4733836"/>
            <a:ext cx="662001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Dimensions:</a:t>
            </a:r>
          </a:p>
          <a:p>
            <a:r>
              <a:rPr lang="en-US" dirty="0"/>
              <a:t>B = batch size, N=number of tokens, C=3 for the R, G, B channels.</a:t>
            </a:r>
          </a:p>
          <a:p>
            <a:r>
              <a:rPr lang="en-US" dirty="0"/>
              <a:t>Single video segment = 2 frames of 8x8 blocks each.</a:t>
            </a:r>
          </a:p>
          <a:p>
            <a:endParaRPr lang="en-US" dirty="0"/>
          </a:p>
          <a:p>
            <a:r>
              <a:rPr lang="en-US" dirty="0" err="1"/>
              <a:t>F.scaled_dot_product_attention</a:t>
            </a:r>
            <a:r>
              <a:rPr lang="en-US" dirty="0"/>
              <a:t>(.) from </a:t>
            </a:r>
            <a:r>
              <a:rPr lang="en-US" dirty="0" err="1"/>
              <a:t>PyTorch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099768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17662-0E39-0D8B-B1B8-0A99E222B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Transformer Block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3CBF1E7-41F5-9E1A-A7D8-3A72CBEEF5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641" y="1383130"/>
            <a:ext cx="11602868" cy="22179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53D47E5-F0E4-56E0-8129-4F81DC47F2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1841" y="3601121"/>
            <a:ext cx="7462508" cy="2977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137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5D80B-8AC0-F3D7-A121-7A5E7F656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989" y="11902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Main Transformer Architecture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BA22F1E-0DBE-D541-C71C-33B8052713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4989" y="1388984"/>
            <a:ext cx="8764510" cy="408003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27D68EC-FC25-BA9B-8B7A-FEB6F1DCF329}"/>
              </a:ext>
            </a:extLst>
          </p:cNvPr>
          <p:cNvSpPr txBox="1"/>
          <p:nvPr/>
        </p:nvSpPr>
        <p:spPr>
          <a:xfrm>
            <a:off x="635726" y="5538651"/>
            <a:ext cx="775481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Notes:</a:t>
            </a:r>
          </a:p>
          <a:p>
            <a:pPr marL="342900" indent="-342900">
              <a:buAutoNum type="arabicPeriod"/>
            </a:pPr>
            <a:r>
              <a:rPr lang="en-US" dirty="0" err="1"/>
              <a:t>self.embed</a:t>
            </a:r>
            <a:r>
              <a:rPr lang="en-US" dirty="0"/>
              <a:t>(x) implements the video segments.</a:t>
            </a:r>
          </a:p>
          <a:p>
            <a:pPr marL="342900" indent="-342900">
              <a:buAutoNum type="arabicPeriod"/>
            </a:pPr>
            <a:r>
              <a:rPr lang="en-US" dirty="0" err="1"/>
              <a:t>self.pos</a:t>
            </a:r>
            <a:r>
              <a:rPr lang="en-US" dirty="0"/>
              <a:t> implements random vectors for position encoding.</a:t>
            </a:r>
          </a:p>
          <a:p>
            <a:pPr marL="342900" indent="-342900">
              <a:buAutoNum type="arabicPeriod"/>
            </a:pPr>
            <a:r>
              <a:rPr lang="en-US" dirty="0" err="1"/>
              <a:t>Self.head</a:t>
            </a:r>
            <a:r>
              <a:rPr lang="en-US" dirty="0"/>
              <a:t>(x[:, 0]) trains the classification token to accumulate the results.</a:t>
            </a:r>
          </a:p>
        </p:txBody>
      </p:sp>
    </p:spTree>
    <p:extLst>
      <p:ext uri="{BB962C8B-B14F-4D97-AF65-F5344CB8AC3E}">
        <p14:creationId xmlns:p14="http://schemas.microsoft.com/office/powerpoint/2010/main" val="7006015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8ED85-8A40-3E89-2371-64042FC4F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The approach works!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A7CEE9-EF5B-E50C-FB85-49C3FE98BF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407" y="1420722"/>
            <a:ext cx="11393186" cy="30990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171BC37-FA3C-A25E-B7E5-5C74AF9B71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3370" y="4690835"/>
            <a:ext cx="7772400" cy="1713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6465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6658F-2DC8-101E-798A-F49B18CFF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268" y="2245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Testing the transformer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03A08CA-0BC3-489C-C2DC-C08E6B05F1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4605" y="1264433"/>
            <a:ext cx="8024735" cy="395200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63D24AF-1E87-57FE-79F4-CFB601A4099C}"/>
              </a:ext>
            </a:extLst>
          </p:cNvPr>
          <p:cNvSpPr txBox="1"/>
          <p:nvPr/>
        </p:nvSpPr>
        <p:spPr>
          <a:xfrm>
            <a:off x="2054445" y="5680203"/>
            <a:ext cx="80831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Tests resamples the videos and expands to full video length.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653A64F-EBEE-8FCB-0A04-E8F54E497094}"/>
              </a:ext>
            </a:extLst>
          </p:cNvPr>
          <p:cNvCxnSpPr>
            <a:cxnSpLocks/>
          </p:cNvCxnSpPr>
          <p:nvPr/>
        </p:nvCxnSpPr>
        <p:spPr>
          <a:xfrm flipH="1" flipV="1">
            <a:off x="5042263" y="4040777"/>
            <a:ext cx="2098766" cy="1552790"/>
          </a:xfrm>
          <a:prstGeom prst="straightConnector1">
            <a:avLst/>
          </a:prstGeom>
          <a:ln w="603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93318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DADDB-DF05-70DB-2B17-9DF88BB5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423" y="131192"/>
            <a:ext cx="11127377" cy="1325563"/>
          </a:xfrm>
        </p:spPr>
        <p:txBody>
          <a:bodyPr/>
          <a:lstStyle/>
          <a:p>
            <a:pPr algn="ctr"/>
            <a:r>
              <a:rPr lang="en-US" dirty="0"/>
              <a:t>Results: Arrow should point to </a:t>
            </a:r>
            <a:br>
              <a:rPr lang="en-US" dirty="0"/>
            </a:br>
            <a:r>
              <a:rPr lang="en-US" dirty="0"/>
              <a:t>location in first frame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5EA624-250C-0D60-6EC7-4260CE7C33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423" y="1349747"/>
            <a:ext cx="11904617" cy="51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0848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810</TotalTime>
  <Words>331</Words>
  <Application>Microsoft Macintosh PowerPoint</Application>
  <PresentationFormat>Widescreen</PresentationFormat>
  <Paragraphs>46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A demo of 3D transformers for surgical video guidance</vt:lpstr>
      <vt:lpstr>Goal: Guide surgeon to gallbladder</vt:lpstr>
      <vt:lpstr>Simulated video example</vt:lpstr>
      <vt:lpstr>Input video decomposed into segments</vt:lpstr>
      <vt:lpstr>Attention implementation</vt:lpstr>
      <vt:lpstr>Transformer Block</vt:lpstr>
      <vt:lpstr>Main Transformer Architecture</vt:lpstr>
      <vt:lpstr>The approach works!</vt:lpstr>
      <vt:lpstr>Testing the transformer</vt:lpstr>
      <vt:lpstr>Results: Arrow should point to  location in first frame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15</cp:revision>
  <dcterms:created xsi:type="dcterms:W3CDTF">2026-09-26T17:37:47Z</dcterms:created>
  <dcterms:modified xsi:type="dcterms:W3CDTF">2026-09-27T22:42:33Z</dcterms:modified>
</cp:coreProperties>
</file>