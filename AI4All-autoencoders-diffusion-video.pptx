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855" r:id="rId3"/>
    <p:sldId id="887" r:id="rId4"/>
    <p:sldId id="888" r:id="rId5"/>
    <p:sldId id="273" r:id="rId6"/>
    <p:sldId id="886" r:id="rId7"/>
    <p:sldId id="898" r:id="rId8"/>
    <p:sldId id="274" r:id="rId9"/>
    <p:sldId id="278" r:id="rId10"/>
    <p:sldId id="897" r:id="rId11"/>
    <p:sldId id="896" r:id="rId12"/>
    <p:sldId id="895" r:id="rId13"/>
    <p:sldId id="900" r:id="rId14"/>
    <p:sldId id="899" r:id="rId15"/>
    <p:sldId id="901" r:id="rId16"/>
    <p:sldId id="8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table of contents" id="{0EEAD180-3CBB-CC4A-BB0D-8FEAB3A86D8D}">
          <p14:sldIdLst>
            <p14:sldId id="256"/>
          </p14:sldIdLst>
        </p14:section>
        <p14:section name="Introduction" id="{3F74AB81-DCB5-B44F-84C9-CA756CEC3ACA}">
          <p14:sldIdLst>
            <p14:sldId id="855"/>
            <p14:sldId id="887"/>
            <p14:sldId id="888"/>
            <p14:sldId id="273"/>
            <p14:sldId id="886"/>
            <p14:sldId id="898"/>
            <p14:sldId id="274"/>
            <p14:sldId id="278"/>
            <p14:sldId id="897"/>
            <p14:sldId id="896"/>
            <p14:sldId id="895"/>
            <p14:sldId id="900"/>
            <p14:sldId id="899"/>
            <p14:sldId id="901"/>
            <p14:sldId id="8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94657"/>
  </p:normalViewPr>
  <p:slideViewPr>
    <p:cSldViewPr snapToGrid="0">
      <p:cViewPr varScale="1">
        <p:scale>
          <a:sx n="116" d="100"/>
          <a:sy n="116" d="100"/>
        </p:scale>
        <p:origin x="21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99A542-20B8-D64E-B722-CE3A5F65A53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7F6E476-FA32-2144-AE15-C84D96D71800}">
      <dgm:prSet phldrT="[Text]"/>
      <dgm:spPr/>
      <dgm:t>
        <a:bodyPr/>
        <a:lstStyle/>
        <a:p>
          <a:r>
            <a:rPr lang="en-US" dirty="0"/>
            <a:t>Select a dataset to use for generation</a:t>
          </a:r>
        </a:p>
      </dgm:t>
    </dgm:pt>
    <dgm:pt modelId="{4E81DC46-09FC-4D42-8261-E1D3C9606688}" type="parTrans" cxnId="{1B12AA17-F0E1-F24A-9632-C0150B566179}">
      <dgm:prSet/>
      <dgm:spPr/>
      <dgm:t>
        <a:bodyPr/>
        <a:lstStyle/>
        <a:p>
          <a:endParaRPr lang="en-US"/>
        </a:p>
      </dgm:t>
    </dgm:pt>
    <dgm:pt modelId="{924577AC-DFA8-BE4E-8B1C-F069EE58735D}" type="sibTrans" cxnId="{1B12AA17-F0E1-F24A-9632-C0150B566179}">
      <dgm:prSet/>
      <dgm:spPr/>
      <dgm:t>
        <a:bodyPr/>
        <a:lstStyle/>
        <a:p>
          <a:endParaRPr lang="en-US"/>
        </a:p>
      </dgm:t>
    </dgm:pt>
    <dgm:pt modelId="{78288D20-0664-8145-B2E4-E6C8A0167833}">
      <dgm:prSet phldrT="[Text]"/>
      <dgm:spPr/>
      <dgm:t>
        <a:bodyPr/>
        <a:lstStyle/>
        <a:p>
          <a:r>
            <a:rPr lang="en-US" dirty="0"/>
            <a:t>Add noise to all the pixels</a:t>
          </a:r>
        </a:p>
      </dgm:t>
    </dgm:pt>
    <dgm:pt modelId="{C69BFE91-8242-8F41-AC27-8C135D2DAA49}" type="parTrans" cxnId="{8D9EF508-005B-024C-8425-00558A46744A}">
      <dgm:prSet/>
      <dgm:spPr/>
      <dgm:t>
        <a:bodyPr/>
        <a:lstStyle/>
        <a:p>
          <a:endParaRPr lang="en-US"/>
        </a:p>
      </dgm:t>
    </dgm:pt>
    <dgm:pt modelId="{EA7E23F5-0895-DD44-8674-2A38B8946243}" type="sibTrans" cxnId="{8D9EF508-005B-024C-8425-00558A46744A}">
      <dgm:prSet/>
      <dgm:spPr/>
      <dgm:t>
        <a:bodyPr/>
        <a:lstStyle/>
        <a:p>
          <a:endParaRPr lang="en-US"/>
        </a:p>
      </dgm:t>
    </dgm:pt>
    <dgm:pt modelId="{4A90B340-F47E-F645-A419-40EBA46474AF}">
      <dgm:prSet phldrT="[Text]"/>
      <dgm:spPr/>
      <dgm:t>
        <a:bodyPr/>
        <a:lstStyle/>
        <a:p>
          <a:r>
            <a:rPr lang="en-US" dirty="0"/>
            <a:t>Repeat until the picture looks like noise</a:t>
          </a:r>
        </a:p>
      </dgm:t>
    </dgm:pt>
    <dgm:pt modelId="{0A213E82-07CB-2744-9CBA-45DB66E647ED}" type="parTrans" cxnId="{DEEFA9AA-859E-B045-A104-417C88DFE6DE}">
      <dgm:prSet/>
      <dgm:spPr/>
      <dgm:t>
        <a:bodyPr/>
        <a:lstStyle/>
        <a:p>
          <a:endParaRPr lang="en-US"/>
        </a:p>
      </dgm:t>
    </dgm:pt>
    <dgm:pt modelId="{154DB508-BC52-ED49-A988-99342D475435}" type="sibTrans" cxnId="{DEEFA9AA-859E-B045-A104-417C88DFE6DE}">
      <dgm:prSet/>
      <dgm:spPr/>
      <dgm:t>
        <a:bodyPr/>
        <a:lstStyle/>
        <a:p>
          <a:endParaRPr lang="en-US"/>
        </a:p>
      </dgm:t>
    </dgm:pt>
    <dgm:pt modelId="{E94E5256-A591-194C-8EEF-EB36C46D9EFD}" type="pres">
      <dgm:prSet presAssocID="{3199A542-20B8-D64E-B722-CE3A5F65A533}" presName="Name0" presStyleCnt="0">
        <dgm:presLayoutVars>
          <dgm:dir/>
          <dgm:resizeHandles val="exact"/>
        </dgm:presLayoutVars>
      </dgm:prSet>
      <dgm:spPr/>
    </dgm:pt>
    <dgm:pt modelId="{9FB17171-A4DA-224E-A046-C3549A508AAC}" type="pres">
      <dgm:prSet presAssocID="{A7F6E476-FA32-2144-AE15-C84D96D71800}" presName="node" presStyleLbl="node1" presStyleIdx="0" presStyleCnt="3">
        <dgm:presLayoutVars>
          <dgm:bulletEnabled val="1"/>
        </dgm:presLayoutVars>
      </dgm:prSet>
      <dgm:spPr/>
    </dgm:pt>
    <dgm:pt modelId="{8B4BB05E-A1DD-A044-9F5C-F428F6642BD2}" type="pres">
      <dgm:prSet presAssocID="{924577AC-DFA8-BE4E-8B1C-F069EE58735D}" presName="sibTrans" presStyleLbl="sibTrans2D1" presStyleIdx="0" presStyleCnt="2"/>
      <dgm:spPr/>
    </dgm:pt>
    <dgm:pt modelId="{7BB686B0-A612-E340-A1DD-A2E9470D780C}" type="pres">
      <dgm:prSet presAssocID="{924577AC-DFA8-BE4E-8B1C-F069EE58735D}" presName="connectorText" presStyleLbl="sibTrans2D1" presStyleIdx="0" presStyleCnt="2"/>
      <dgm:spPr/>
    </dgm:pt>
    <dgm:pt modelId="{8CC53D10-A590-9148-8FA9-5EB2E642CF60}" type="pres">
      <dgm:prSet presAssocID="{78288D20-0664-8145-B2E4-E6C8A0167833}" presName="node" presStyleLbl="node1" presStyleIdx="1" presStyleCnt="3">
        <dgm:presLayoutVars>
          <dgm:bulletEnabled val="1"/>
        </dgm:presLayoutVars>
      </dgm:prSet>
      <dgm:spPr/>
    </dgm:pt>
    <dgm:pt modelId="{20AB469D-CAA5-3B42-A61D-EC44D6C69025}" type="pres">
      <dgm:prSet presAssocID="{EA7E23F5-0895-DD44-8674-2A38B8946243}" presName="sibTrans" presStyleLbl="sibTrans2D1" presStyleIdx="1" presStyleCnt="2"/>
      <dgm:spPr/>
    </dgm:pt>
    <dgm:pt modelId="{D0DC0998-4603-CA41-9EEE-D97DC953B468}" type="pres">
      <dgm:prSet presAssocID="{EA7E23F5-0895-DD44-8674-2A38B8946243}" presName="connectorText" presStyleLbl="sibTrans2D1" presStyleIdx="1" presStyleCnt="2"/>
      <dgm:spPr/>
    </dgm:pt>
    <dgm:pt modelId="{86611AEE-35EC-D848-A70F-25A0260768A1}" type="pres">
      <dgm:prSet presAssocID="{4A90B340-F47E-F645-A419-40EBA46474AF}" presName="node" presStyleLbl="node1" presStyleIdx="2" presStyleCnt="3">
        <dgm:presLayoutVars>
          <dgm:bulletEnabled val="1"/>
        </dgm:presLayoutVars>
      </dgm:prSet>
      <dgm:spPr/>
    </dgm:pt>
  </dgm:ptLst>
  <dgm:cxnLst>
    <dgm:cxn modelId="{8D9EF508-005B-024C-8425-00558A46744A}" srcId="{3199A542-20B8-D64E-B722-CE3A5F65A533}" destId="{78288D20-0664-8145-B2E4-E6C8A0167833}" srcOrd="1" destOrd="0" parTransId="{C69BFE91-8242-8F41-AC27-8C135D2DAA49}" sibTransId="{EA7E23F5-0895-DD44-8674-2A38B8946243}"/>
    <dgm:cxn modelId="{1B12AA17-F0E1-F24A-9632-C0150B566179}" srcId="{3199A542-20B8-D64E-B722-CE3A5F65A533}" destId="{A7F6E476-FA32-2144-AE15-C84D96D71800}" srcOrd="0" destOrd="0" parTransId="{4E81DC46-09FC-4D42-8261-E1D3C9606688}" sibTransId="{924577AC-DFA8-BE4E-8B1C-F069EE58735D}"/>
    <dgm:cxn modelId="{3EB32922-0311-B54D-A7B5-738619300552}" type="presOf" srcId="{924577AC-DFA8-BE4E-8B1C-F069EE58735D}" destId="{8B4BB05E-A1DD-A044-9F5C-F428F6642BD2}" srcOrd="0" destOrd="0" presId="urn:microsoft.com/office/officeart/2005/8/layout/process1"/>
    <dgm:cxn modelId="{9F02D82F-023B-E24A-BD5A-590123DC3AB9}" type="presOf" srcId="{EA7E23F5-0895-DD44-8674-2A38B8946243}" destId="{D0DC0998-4603-CA41-9EEE-D97DC953B468}" srcOrd="1" destOrd="0" presId="urn:microsoft.com/office/officeart/2005/8/layout/process1"/>
    <dgm:cxn modelId="{40E39F32-9979-274D-80C9-E27B02731442}" type="presOf" srcId="{A7F6E476-FA32-2144-AE15-C84D96D71800}" destId="{9FB17171-A4DA-224E-A046-C3549A508AAC}" srcOrd="0" destOrd="0" presId="urn:microsoft.com/office/officeart/2005/8/layout/process1"/>
    <dgm:cxn modelId="{4B377A49-4503-D544-8840-B9CB80BD65C2}" type="presOf" srcId="{924577AC-DFA8-BE4E-8B1C-F069EE58735D}" destId="{7BB686B0-A612-E340-A1DD-A2E9470D780C}" srcOrd="1" destOrd="0" presId="urn:microsoft.com/office/officeart/2005/8/layout/process1"/>
    <dgm:cxn modelId="{2A98485B-7192-7345-A7F5-5CAEAE8D0267}" type="presOf" srcId="{3199A542-20B8-D64E-B722-CE3A5F65A533}" destId="{E94E5256-A591-194C-8EEF-EB36C46D9EFD}" srcOrd="0" destOrd="0" presId="urn:microsoft.com/office/officeart/2005/8/layout/process1"/>
    <dgm:cxn modelId="{49E87494-6578-634F-BF33-045F317284A0}" type="presOf" srcId="{78288D20-0664-8145-B2E4-E6C8A0167833}" destId="{8CC53D10-A590-9148-8FA9-5EB2E642CF60}" srcOrd="0" destOrd="0" presId="urn:microsoft.com/office/officeart/2005/8/layout/process1"/>
    <dgm:cxn modelId="{792DE397-3988-DC4A-94D0-87AEBED0135F}" type="presOf" srcId="{EA7E23F5-0895-DD44-8674-2A38B8946243}" destId="{20AB469D-CAA5-3B42-A61D-EC44D6C69025}" srcOrd="0" destOrd="0" presId="urn:microsoft.com/office/officeart/2005/8/layout/process1"/>
    <dgm:cxn modelId="{DEEFA9AA-859E-B045-A104-417C88DFE6DE}" srcId="{3199A542-20B8-D64E-B722-CE3A5F65A533}" destId="{4A90B340-F47E-F645-A419-40EBA46474AF}" srcOrd="2" destOrd="0" parTransId="{0A213E82-07CB-2744-9CBA-45DB66E647ED}" sibTransId="{154DB508-BC52-ED49-A988-99342D475435}"/>
    <dgm:cxn modelId="{91E5D5F3-16CF-094D-82C9-0CCCB37225B3}" type="presOf" srcId="{4A90B340-F47E-F645-A419-40EBA46474AF}" destId="{86611AEE-35EC-D848-A70F-25A0260768A1}" srcOrd="0" destOrd="0" presId="urn:microsoft.com/office/officeart/2005/8/layout/process1"/>
    <dgm:cxn modelId="{4AA453C3-16C2-CF4F-8D1F-6786B2A7DEE3}" type="presParOf" srcId="{E94E5256-A591-194C-8EEF-EB36C46D9EFD}" destId="{9FB17171-A4DA-224E-A046-C3549A508AAC}" srcOrd="0" destOrd="0" presId="urn:microsoft.com/office/officeart/2005/8/layout/process1"/>
    <dgm:cxn modelId="{BE6060D4-BACB-8E48-BBF9-84C9960CC373}" type="presParOf" srcId="{E94E5256-A591-194C-8EEF-EB36C46D9EFD}" destId="{8B4BB05E-A1DD-A044-9F5C-F428F6642BD2}" srcOrd="1" destOrd="0" presId="urn:microsoft.com/office/officeart/2005/8/layout/process1"/>
    <dgm:cxn modelId="{0B993D3B-3A42-824D-BFE4-3C90D731710C}" type="presParOf" srcId="{8B4BB05E-A1DD-A044-9F5C-F428F6642BD2}" destId="{7BB686B0-A612-E340-A1DD-A2E9470D780C}" srcOrd="0" destOrd="0" presId="urn:microsoft.com/office/officeart/2005/8/layout/process1"/>
    <dgm:cxn modelId="{FC3992F2-A051-464D-9631-6D829C007388}" type="presParOf" srcId="{E94E5256-A591-194C-8EEF-EB36C46D9EFD}" destId="{8CC53D10-A590-9148-8FA9-5EB2E642CF60}" srcOrd="2" destOrd="0" presId="urn:microsoft.com/office/officeart/2005/8/layout/process1"/>
    <dgm:cxn modelId="{7EFC6AA1-F9BC-644A-87D3-294E67CC9488}" type="presParOf" srcId="{E94E5256-A591-194C-8EEF-EB36C46D9EFD}" destId="{20AB469D-CAA5-3B42-A61D-EC44D6C69025}" srcOrd="3" destOrd="0" presId="urn:microsoft.com/office/officeart/2005/8/layout/process1"/>
    <dgm:cxn modelId="{4516BF47-06FA-464F-8C70-28335BBE0EE7}" type="presParOf" srcId="{20AB469D-CAA5-3B42-A61D-EC44D6C69025}" destId="{D0DC0998-4603-CA41-9EEE-D97DC953B468}" srcOrd="0" destOrd="0" presId="urn:microsoft.com/office/officeart/2005/8/layout/process1"/>
    <dgm:cxn modelId="{137EEBDF-71B6-744E-A48C-201B872CCEC7}" type="presParOf" srcId="{E94E5256-A591-194C-8EEF-EB36C46D9EFD}" destId="{86611AEE-35EC-D848-A70F-25A0260768A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99A542-20B8-D64E-B722-CE3A5F65A53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7F6E476-FA32-2144-AE15-C84D96D71800}">
      <dgm:prSet phldrT="[Text]"/>
      <dgm:spPr/>
      <dgm:t>
        <a:bodyPr/>
        <a:lstStyle/>
        <a:p>
          <a:r>
            <a:rPr lang="en-US" dirty="0"/>
            <a:t>Noisy</a:t>
          </a:r>
          <a:r>
            <a:rPr lang="en-US" baseline="0" dirty="0"/>
            <a:t> images dataset</a:t>
          </a:r>
          <a:endParaRPr lang="en-US" dirty="0"/>
        </a:p>
      </dgm:t>
    </dgm:pt>
    <dgm:pt modelId="{4E81DC46-09FC-4D42-8261-E1D3C9606688}" type="parTrans" cxnId="{1B12AA17-F0E1-F24A-9632-C0150B566179}">
      <dgm:prSet/>
      <dgm:spPr/>
      <dgm:t>
        <a:bodyPr/>
        <a:lstStyle/>
        <a:p>
          <a:endParaRPr lang="en-US"/>
        </a:p>
      </dgm:t>
    </dgm:pt>
    <dgm:pt modelId="{924577AC-DFA8-BE4E-8B1C-F069EE58735D}" type="sibTrans" cxnId="{1B12AA17-F0E1-F24A-9632-C0150B566179}">
      <dgm:prSet/>
      <dgm:spPr/>
      <dgm:t>
        <a:bodyPr/>
        <a:lstStyle/>
        <a:p>
          <a:endParaRPr lang="en-US"/>
        </a:p>
      </dgm:t>
    </dgm:pt>
    <dgm:pt modelId="{78288D20-0664-8145-B2E4-E6C8A0167833}">
      <dgm:prSet phldrT="[Text]"/>
      <dgm:spPr/>
      <dgm:t>
        <a:bodyPr/>
        <a:lstStyle/>
        <a:p>
          <a:r>
            <a:rPr lang="en-US" dirty="0"/>
            <a:t>Auto-encoder</a:t>
          </a:r>
        </a:p>
        <a:p>
          <a:r>
            <a:rPr lang="en-US" dirty="0"/>
            <a:t>Neural Network</a:t>
          </a:r>
        </a:p>
      </dgm:t>
    </dgm:pt>
    <dgm:pt modelId="{C69BFE91-8242-8F41-AC27-8C135D2DAA49}" type="parTrans" cxnId="{8D9EF508-005B-024C-8425-00558A46744A}">
      <dgm:prSet/>
      <dgm:spPr/>
      <dgm:t>
        <a:bodyPr/>
        <a:lstStyle/>
        <a:p>
          <a:endParaRPr lang="en-US"/>
        </a:p>
      </dgm:t>
    </dgm:pt>
    <dgm:pt modelId="{EA7E23F5-0895-DD44-8674-2A38B8946243}" type="sibTrans" cxnId="{8D9EF508-005B-024C-8425-00558A46744A}">
      <dgm:prSet/>
      <dgm:spPr/>
      <dgm:t>
        <a:bodyPr/>
        <a:lstStyle/>
        <a:p>
          <a:endParaRPr lang="en-US"/>
        </a:p>
      </dgm:t>
    </dgm:pt>
    <dgm:pt modelId="{4A90B340-F47E-F645-A419-40EBA46474AF}">
      <dgm:prSet phldrT="[Text]"/>
      <dgm:spPr/>
      <dgm:t>
        <a:bodyPr/>
        <a:lstStyle/>
        <a:p>
          <a:r>
            <a:rPr lang="en-US" dirty="0"/>
            <a:t>Define error in terms of generated and input images</a:t>
          </a:r>
        </a:p>
      </dgm:t>
    </dgm:pt>
    <dgm:pt modelId="{0A213E82-07CB-2744-9CBA-45DB66E647ED}" type="parTrans" cxnId="{DEEFA9AA-859E-B045-A104-417C88DFE6DE}">
      <dgm:prSet/>
      <dgm:spPr/>
      <dgm:t>
        <a:bodyPr/>
        <a:lstStyle/>
        <a:p>
          <a:endParaRPr lang="en-US"/>
        </a:p>
      </dgm:t>
    </dgm:pt>
    <dgm:pt modelId="{154DB508-BC52-ED49-A988-99342D475435}" type="sibTrans" cxnId="{DEEFA9AA-859E-B045-A104-417C88DFE6DE}">
      <dgm:prSet/>
      <dgm:spPr/>
      <dgm:t>
        <a:bodyPr/>
        <a:lstStyle/>
        <a:p>
          <a:endParaRPr lang="en-US"/>
        </a:p>
      </dgm:t>
    </dgm:pt>
    <dgm:pt modelId="{E94E5256-A591-194C-8EEF-EB36C46D9EFD}" type="pres">
      <dgm:prSet presAssocID="{3199A542-20B8-D64E-B722-CE3A5F65A533}" presName="Name0" presStyleCnt="0">
        <dgm:presLayoutVars>
          <dgm:dir/>
          <dgm:resizeHandles val="exact"/>
        </dgm:presLayoutVars>
      </dgm:prSet>
      <dgm:spPr/>
    </dgm:pt>
    <dgm:pt modelId="{9FB17171-A4DA-224E-A046-C3549A508AAC}" type="pres">
      <dgm:prSet presAssocID="{A7F6E476-FA32-2144-AE15-C84D96D71800}" presName="node" presStyleLbl="node1" presStyleIdx="0" presStyleCnt="3">
        <dgm:presLayoutVars>
          <dgm:bulletEnabled val="1"/>
        </dgm:presLayoutVars>
      </dgm:prSet>
      <dgm:spPr/>
    </dgm:pt>
    <dgm:pt modelId="{8B4BB05E-A1DD-A044-9F5C-F428F6642BD2}" type="pres">
      <dgm:prSet presAssocID="{924577AC-DFA8-BE4E-8B1C-F069EE58735D}" presName="sibTrans" presStyleLbl="sibTrans2D1" presStyleIdx="0" presStyleCnt="2"/>
      <dgm:spPr/>
    </dgm:pt>
    <dgm:pt modelId="{7BB686B0-A612-E340-A1DD-A2E9470D780C}" type="pres">
      <dgm:prSet presAssocID="{924577AC-DFA8-BE4E-8B1C-F069EE58735D}" presName="connectorText" presStyleLbl="sibTrans2D1" presStyleIdx="0" presStyleCnt="2"/>
      <dgm:spPr/>
    </dgm:pt>
    <dgm:pt modelId="{8CC53D10-A590-9148-8FA9-5EB2E642CF60}" type="pres">
      <dgm:prSet presAssocID="{78288D20-0664-8145-B2E4-E6C8A0167833}" presName="node" presStyleLbl="node1" presStyleIdx="1" presStyleCnt="3">
        <dgm:presLayoutVars>
          <dgm:bulletEnabled val="1"/>
        </dgm:presLayoutVars>
      </dgm:prSet>
      <dgm:spPr/>
    </dgm:pt>
    <dgm:pt modelId="{20AB469D-CAA5-3B42-A61D-EC44D6C69025}" type="pres">
      <dgm:prSet presAssocID="{EA7E23F5-0895-DD44-8674-2A38B8946243}" presName="sibTrans" presStyleLbl="sibTrans2D1" presStyleIdx="1" presStyleCnt="2"/>
      <dgm:spPr/>
    </dgm:pt>
    <dgm:pt modelId="{D0DC0998-4603-CA41-9EEE-D97DC953B468}" type="pres">
      <dgm:prSet presAssocID="{EA7E23F5-0895-DD44-8674-2A38B8946243}" presName="connectorText" presStyleLbl="sibTrans2D1" presStyleIdx="1" presStyleCnt="2"/>
      <dgm:spPr/>
    </dgm:pt>
    <dgm:pt modelId="{86611AEE-35EC-D848-A70F-25A0260768A1}" type="pres">
      <dgm:prSet presAssocID="{4A90B340-F47E-F645-A419-40EBA46474AF}" presName="node" presStyleLbl="node1" presStyleIdx="2" presStyleCnt="3">
        <dgm:presLayoutVars>
          <dgm:bulletEnabled val="1"/>
        </dgm:presLayoutVars>
      </dgm:prSet>
      <dgm:spPr/>
    </dgm:pt>
  </dgm:ptLst>
  <dgm:cxnLst>
    <dgm:cxn modelId="{8D9EF508-005B-024C-8425-00558A46744A}" srcId="{3199A542-20B8-D64E-B722-CE3A5F65A533}" destId="{78288D20-0664-8145-B2E4-E6C8A0167833}" srcOrd="1" destOrd="0" parTransId="{C69BFE91-8242-8F41-AC27-8C135D2DAA49}" sibTransId="{EA7E23F5-0895-DD44-8674-2A38B8946243}"/>
    <dgm:cxn modelId="{1B12AA17-F0E1-F24A-9632-C0150B566179}" srcId="{3199A542-20B8-D64E-B722-CE3A5F65A533}" destId="{A7F6E476-FA32-2144-AE15-C84D96D71800}" srcOrd="0" destOrd="0" parTransId="{4E81DC46-09FC-4D42-8261-E1D3C9606688}" sibTransId="{924577AC-DFA8-BE4E-8B1C-F069EE58735D}"/>
    <dgm:cxn modelId="{3EB32922-0311-B54D-A7B5-738619300552}" type="presOf" srcId="{924577AC-DFA8-BE4E-8B1C-F069EE58735D}" destId="{8B4BB05E-A1DD-A044-9F5C-F428F6642BD2}" srcOrd="0" destOrd="0" presId="urn:microsoft.com/office/officeart/2005/8/layout/process1"/>
    <dgm:cxn modelId="{9F02D82F-023B-E24A-BD5A-590123DC3AB9}" type="presOf" srcId="{EA7E23F5-0895-DD44-8674-2A38B8946243}" destId="{D0DC0998-4603-CA41-9EEE-D97DC953B468}" srcOrd="1" destOrd="0" presId="urn:microsoft.com/office/officeart/2005/8/layout/process1"/>
    <dgm:cxn modelId="{40E39F32-9979-274D-80C9-E27B02731442}" type="presOf" srcId="{A7F6E476-FA32-2144-AE15-C84D96D71800}" destId="{9FB17171-A4DA-224E-A046-C3549A508AAC}" srcOrd="0" destOrd="0" presId="urn:microsoft.com/office/officeart/2005/8/layout/process1"/>
    <dgm:cxn modelId="{4B377A49-4503-D544-8840-B9CB80BD65C2}" type="presOf" srcId="{924577AC-DFA8-BE4E-8B1C-F069EE58735D}" destId="{7BB686B0-A612-E340-A1DD-A2E9470D780C}" srcOrd="1" destOrd="0" presId="urn:microsoft.com/office/officeart/2005/8/layout/process1"/>
    <dgm:cxn modelId="{2A98485B-7192-7345-A7F5-5CAEAE8D0267}" type="presOf" srcId="{3199A542-20B8-D64E-B722-CE3A5F65A533}" destId="{E94E5256-A591-194C-8EEF-EB36C46D9EFD}" srcOrd="0" destOrd="0" presId="urn:microsoft.com/office/officeart/2005/8/layout/process1"/>
    <dgm:cxn modelId="{49E87494-6578-634F-BF33-045F317284A0}" type="presOf" srcId="{78288D20-0664-8145-B2E4-E6C8A0167833}" destId="{8CC53D10-A590-9148-8FA9-5EB2E642CF60}" srcOrd="0" destOrd="0" presId="urn:microsoft.com/office/officeart/2005/8/layout/process1"/>
    <dgm:cxn modelId="{792DE397-3988-DC4A-94D0-87AEBED0135F}" type="presOf" srcId="{EA7E23F5-0895-DD44-8674-2A38B8946243}" destId="{20AB469D-CAA5-3B42-A61D-EC44D6C69025}" srcOrd="0" destOrd="0" presId="urn:microsoft.com/office/officeart/2005/8/layout/process1"/>
    <dgm:cxn modelId="{DEEFA9AA-859E-B045-A104-417C88DFE6DE}" srcId="{3199A542-20B8-D64E-B722-CE3A5F65A533}" destId="{4A90B340-F47E-F645-A419-40EBA46474AF}" srcOrd="2" destOrd="0" parTransId="{0A213E82-07CB-2744-9CBA-45DB66E647ED}" sibTransId="{154DB508-BC52-ED49-A988-99342D475435}"/>
    <dgm:cxn modelId="{91E5D5F3-16CF-094D-82C9-0CCCB37225B3}" type="presOf" srcId="{4A90B340-F47E-F645-A419-40EBA46474AF}" destId="{86611AEE-35EC-D848-A70F-25A0260768A1}" srcOrd="0" destOrd="0" presId="urn:microsoft.com/office/officeart/2005/8/layout/process1"/>
    <dgm:cxn modelId="{4AA453C3-16C2-CF4F-8D1F-6786B2A7DEE3}" type="presParOf" srcId="{E94E5256-A591-194C-8EEF-EB36C46D9EFD}" destId="{9FB17171-A4DA-224E-A046-C3549A508AAC}" srcOrd="0" destOrd="0" presId="urn:microsoft.com/office/officeart/2005/8/layout/process1"/>
    <dgm:cxn modelId="{BE6060D4-BACB-8E48-BBF9-84C9960CC373}" type="presParOf" srcId="{E94E5256-A591-194C-8EEF-EB36C46D9EFD}" destId="{8B4BB05E-A1DD-A044-9F5C-F428F6642BD2}" srcOrd="1" destOrd="0" presId="urn:microsoft.com/office/officeart/2005/8/layout/process1"/>
    <dgm:cxn modelId="{0B993D3B-3A42-824D-BFE4-3C90D731710C}" type="presParOf" srcId="{8B4BB05E-A1DD-A044-9F5C-F428F6642BD2}" destId="{7BB686B0-A612-E340-A1DD-A2E9470D780C}" srcOrd="0" destOrd="0" presId="urn:microsoft.com/office/officeart/2005/8/layout/process1"/>
    <dgm:cxn modelId="{FC3992F2-A051-464D-9631-6D829C007388}" type="presParOf" srcId="{E94E5256-A591-194C-8EEF-EB36C46D9EFD}" destId="{8CC53D10-A590-9148-8FA9-5EB2E642CF60}" srcOrd="2" destOrd="0" presId="urn:microsoft.com/office/officeart/2005/8/layout/process1"/>
    <dgm:cxn modelId="{7EFC6AA1-F9BC-644A-87D3-294E67CC9488}" type="presParOf" srcId="{E94E5256-A591-194C-8EEF-EB36C46D9EFD}" destId="{20AB469D-CAA5-3B42-A61D-EC44D6C69025}" srcOrd="3" destOrd="0" presId="urn:microsoft.com/office/officeart/2005/8/layout/process1"/>
    <dgm:cxn modelId="{4516BF47-06FA-464F-8C70-28335BBE0EE7}" type="presParOf" srcId="{20AB469D-CAA5-3B42-A61D-EC44D6C69025}" destId="{D0DC0998-4603-CA41-9EEE-D97DC953B468}" srcOrd="0" destOrd="0" presId="urn:microsoft.com/office/officeart/2005/8/layout/process1"/>
    <dgm:cxn modelId="{137EEBDF-71B6-744E-A48C-201B872CCEC7}" type="presParOf" srcId="{E94E5256-A591-194C-8EEF-EB36C46D9EFD}" destId="{86611AEE-35EC-D848-A70F-25A0260768A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99A542-20B8-D64E-B722-CE3A5F65A53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7F6E476-FA32-2144-AE15-C84D96D71800}">
      <dgm:prSet phldrT="[Text]"/>
      <dgm:spPr/>
      <dgm:t>
        <a:bodyPr/>
        <a:lstStyle/>
        <a:p>
          <a:r>
            <a:rPr lang="en-US" dirty="0"/>
            <a:t>Generate Random Noise and input time step t</a:t>
          </a:r>
        </a:p>
      </dgm:t>
    </dgm:pt>
    <dgm:pt modelId="{4E81DC46-09FC-4D42-8261-E1D3C9606688}" type="parTrans" cxnId="{1B12AA17-F0E1-F24A-9632-C0150B566179}">
      <dgm:prSet/>
      <dgm:spPr/>
      <dgm:t>
        <a:bodyPr/>
        <a:lstStyle/>
        <a:p>
          <a:endParaRPr lang="en-US"/>
        </a:p>
      </dgm:t>
    </dgm:pt>
    <dgm:pt modelId="{924577AC-DFA8-BE4E-8B1C-F069EE58735D}" type="sibTrans" cxnId="{1B12AA17-F0E1-F24A-9632-C0150B566179}">
      <dgm:prSet/>
      <dgm:spPr/>
      <dgm:t>
        <a:bodyPr/>
        <a:lstStyle/>
        <a:p>
          <a:endParaRPr lang="en-US"/>
        </a:p>
      </dgm:t>
    </dgm:pt>
    <dgm:pt modelId="{78288D20-0664-8145-B2E4-E6C8A0167833}">
      <dgm:prSet phldrT="[Text]"/>
      <dgm:spPr/>
      <dgm:t>
        <a:bodyPr/>
        <a:lstStyle/>
        <a:p>
          <a:r>
            <a:rPr lang="en-US" dirty="0"/>
            <a:t>Use Neural Network to reverse all time steps</a:t>
          </a:r>
        </a:p>
      </dgm:t>
    </dgm:pt>
    <dgm:pt modelId="{C69BFE91-8242-8F41-AC27-8C135D2DAA49}" type="parTrans" cxnId="{8D9EF508-005B-024C-8425-00558A46744A}">
      <dgm:prSet/>
      <dgm:spPr/>
      <dgm:t>
        <a:bodyPr/>
        <a:lstStyle/>
        <a:p>
          <a:endParaRPr lang="en-US"/>
        </a:p>
      </dgm:t>
    </dgm:pt>
    <dgm:pt modelId="{EA7E23F5-0895-DD44-8674-2A38B8946243}" type="sibTrans" cxnId="{8D9EF508-005B-024C-8425-00558A46744A}">
      <dgm:prSet/>
      <dgm:spPr/>
      <dgm:t>
        <a:bodyPr/>
        <a:lstStyle/>
        <a:p>
          <a:endParaRPr lang="en-US"/>
        </a:p>
      </dgm:t>
    </dgm:pt>
    <dgm:pt modelId="{4A90B340-F47E-F645-A419-40EBA46474AF}">
      <dgm:prSet phldrT="[Text]"/>
      <dgm:spPr/>
      <dgm:t>
        <a:bodyPr/>
        <a:lstStyle/>
        <a:p>
          <a:r>
            <a:rPr lang="en-US" dirty="0"/>
            <a:t>Realistic Image</a:t>
          </a:r>
        </a:p>
      </dgm:t>
    </dgm:pt>
    <dgm:pt modelId="{0A213E82-07CB-2744-9CBA-45DB66E647ED}" type="parTrans" cxnId="{DEEFA9AA-859E-B045-A104-417C88DFE6DE}">
      <dgm:prSet/>
      <dgm:spPr/>
      <dgm:t>
        <a:bodyPr/>
        <a:lstStyle/>
        <a:p>
          <a:endParaRPr lang="en-US"/>
        </a:p>
      </dgm:t>
    </dgm:pt>
    <dgm:pt modelId="{154DB508-BC52-ED49-A988-99342D475435}" type="sibTrans" cxnId="{DEEFA9AA-859E-B045-A104-417C88DFE6DE}">
      <dgm:prSet/>
      <dgm:spPr/>
      <dgm:t>
        <a:bodyPr/>
        <a:lstStyle/>
        <a:p>
          <a:endParaRPr lang="en-US"/>
        </a:p>
      </dgm:t>
    </dgm:pt>
    <dgm:pt modelId="{E94E5256-A591-194C-8EEF-EB36C46D9EFD}" type="pres">
      <dgm:prSet presAssocID="{3199A542-20B8-D64E-B722-CE3A5F65A533}" presName="Name0" presStyleCnt="0">
        <dgm:presLayoutVars>
          <dgm:dir/>
          <dgm:resizeHandles val="exact"/>
        </dgm:presLayoutVars>
      </dgm:prSet>
      <dgm:spPr/>
    </dgm:pt>
    <dgm:pt modelId="{9FB17171-A4DA-224E-A046-C3549A508AAC}" type="pres">
      <dgm:prSet presAssocID="{A7F6E476-FA32-2144-AE15-C84D96D71800}" presName="node" presStyleLbl="node1" presStyleIdx="0" presStyleCnt="3">
        <dgm:presLayoutVars>
          <dgm:bulletEnabled val="1"/>
        </dgm:presLayoutVars>
      </dgm:prSet>
      <dgm:spPr/>
    </dgm:pt>
    <dgm:pt modelId="{8B4BB05E-A1DD-A044-9F5C-F428F6642BD2}" type="pres">
      <dgm:prSet presAssocID="{924577AC-DFA8-BE4E-8B1C-F069EE58735D}" presName="sibTrans" presStyleLbl="sibTrans2D1" presStyleIdx="0" presStyleCnt="2"/>
      <dgm:spPr/>
    </dgm:pt>
    <dgm:pt modelId="{7BB686B0-A612-E340-A1DD-A2E9470D780C}" type="pres">
      <dgm:prSet presAssocID="{924577AC-DFA8-BE4E-8B1C-F069EE58735D}" presName="connectorText" presStyleLbl="sibTrans2D1" presStyleIdx="0" presStyleCnt="2"/>
      <dgm:spPr/>
    </dgm:pt>
    <dgm:pt modelId="{8CC53D10-A590-9148-8FA9-5EB2E642CF60}" type="pres">
      <dgm:prSet presAssocID="{78288D20-0664-8145-B2E4-E6C8A0167833}" presName="node" presStyleLbl="node1" presStyleIdx="1" presStyleCnt="3">
        <dgm:presLayoutVars>
          <dgm:bulletEnabled val="1"/>
        </dgm:presLayoutVars>
      </dgm:prSet>
      <dgm:spPr/>
    </dgm:pt>
    <dgm:pt modelId="{20AB469D-CAA5-3B42-A61D-EC44D6C69025}" type="pres">
      <dgm:prSet presAssocID="{EA7E23F5-0895-DD44-8674-2A38B8946243}" presName="sibTrans" presStyleLbl="sibTrans2D1" presStyleIdx="1" presStyleCnt="2"/>
      <dgm:spPr/>
    </dgm:pt>
    <dgm:pt modelId="{D0DC0998-4603-CA41-9EEE-D97DC953B468}" type="pres">
      <dgm:prSet presAssocID="{EA7E23F5-0895-DD44-8674-2A38B8946243}" presName="connectorText" presStyleLbl="sibTrans2D1" presStyleIdx="1" presStyleCnt="2"/>
      <dgm:spPr/>
    </dgm:pt>
    <dgm:pt modelId="{86611AEE-35EC-D848-A70F-25A0260768A1}" type="pres">
      <dgm:prSet presAssocID="{4A90B340-F47E-F645-A419-40EBA46474AF}" presName="node" presStyleLbl="node1" presStyleIdx="2" presStyleCnt="3">
        <dgm:presLayoutVars>
          <dgm:bulletEnabled val="1"/>
        </dgm:presLayoutVars>
      </dgm:prSet>
      <dgm:spPr/>
    </dgm:pt>
  </dgm:ptLst>
  <dgm:cxnLst>
    <dgm:cxn modelId="{8D9EF508-005B-024C-8425-00558A46744A}" srcId="{3199A542-20B8-D64E-B722-CE3A5F65A533}" destId="{78288D20-0664-8145-B2E4-E6C8A0167833}" srcOrd="1" destOrd="0" parTransId="{C69BFE91-8242-8F41-AC27-8C135D2DAA49}" sibTransId="{EA7E23F5-0895-DD44-8674-2A38B8946243}"/>
    <dgm:cxn modelId="{1B12AA17-F0E1-F24A-9632-C0150B566179}" srcId="{3199A542-20B8-D64E-B722-CE3A5F65A533}" destId="{A7F6E476-FA32-2144-AE15-C84D96D71800}" srcOrd="0" destOrd="0" parTransId="{4E81DC46-09FC-4D42-8261-E1D3C9606688}" sibTransId="{924577AC-DFA8-BE4E-8B1C-F069EE58735D}"/>
    <dgm:cxn modelId="{3EB32922-0311-B54D-A7B5-738619300552}" type="presOf" srcId="{924577AC-DFA8-BE4E-8B1C-F069EE58735D}" destId="{8B4BB05E-A1DD-A044-9F5C-F428F6642BD2}" srcOrd="0" destOrd="0" presId="urn:microsoft.com/office/officeart/2005/8/layout/process1"/>
    <dgm:cxn modelId="{9F02D82F-023B-E24A-BD5A-590123DC3AB9}" type="presOf" srcId="{EA7E23F5-0895-DD44-8674-2A38B8946243}" destId="{D0DC0998-4603-CA41-9EEE-D97DC953B468}" srcOrd="1" destOrd="0" presId="urn:microsoft.com/office/officeart/2005/8/layout/process1"/>
    <dgm:cxn modelId="{40E39F32-9979-274D-80C9-E27B02731442}" type="presOf" srcId="{A7F6E476-FA32-2144-AE15-C84D96D71800}" destId="{9FB17171-A4DA-224E-A046-C3549A508AAC}" srcOrd="0" destOrd="0" presId="urn:microsoft.com/office/officeart/2005/8/layout/process1"/>
    <dgm:cxn modelId="{4B377A49-4503-D544-8840-B9CB80BD65C2}" type="presOf" srcId="{924577AC-DFA8-BE4E-8B1C-F069EE58735D}" destId="{7BB686B0-A612-E340-A1DD-A2E9470D780C}" srcOrd="1" destOrd="0" presId="urn:microsoft.com/office/officeart/2005/8/layout/process1"/>
    <dgm:cxn modelId="{2A98485B-7192-7345-A7F5-5CAEAE8D0267}" type="presOf" srcId="{3199A542-20B8-D64E-B722-CE3A5F65A533}" destId="{E94E5256-A591-194C-8EEF-EB36C46D9EFD}" srcOrd="0" destOrd="0" presId="urn:microsoft.com/office/officeart/2005/8/layout/process1"/>
    <dgm:cxn modelId="{49E87494-6578-634F-BF33-045F317284A0}" type="presOf" srcId="{78288D20-0664-8145-B2E4-E6C8A0167833}" destId="{8CC53D10-A590-9148-8FA9-5EB2E642CF60}" srcOrd="0" destOrd="0" presId="urn:microsoft.com/office/officeart/2005/8/layout/process1"/>
    <dgm:cxn modelId="{792DE397-3988-DC4A-94D0-87AEBED0135F}" type="presOf" srcId="{EA7E23F5-0895-DD44-8674-2A38B8946243}" destId="{20AB469D-CAA5-3B42-A61D-EC44D6C69025}" srcOrd="0" destOrd="0" presId="urn:microsoft.com/office/officeart/2005/8/layout/process1"/>
    <dgm:cxn modelId="{DEEFA9AA-859E-B045-A104-417C88DFE6DE}" srcId="{3199A542-20B8-D64E-B722-CE3A5F65A533}" destId="{4A90B340-F47E-F645-A419-40EBA46474AF}" srcOrd="2" destOrd="0" parTransId="{0A213E82-07CB-2744-9CBA-45DB66E647ED}" sibTransId="{154DB508-BC52-ED49-A988-99342D475435}"/>
    <dgm:cxn modelId="{91E5D5F3-16CF-094D-82C9-0CCCB37225B3}" type="presOf" srcId="{4A90B340-F47E-F645-A419-40EBA46474AF}" destId="{86611AEE-35EC-D848-A70F-25A0260768A1}" srcOrd="0" destOrd="0" presId="urn:microsoft.com/office/officeart/2005/8/layout/process1"/>
    <dgm:cxn modelId="{4AA453C3-16C2-CF4F-8D1F-6786B2A7DEE3}" type="presParOf" srcId="{E94E5256-A591-194C-8EEF-EB36C46D9EFD}" destId="{9FB17171-A4DA-224E-A046-C3549A508AAC}" srcOrd="0" destOrd="0" presId="urn:microsoft.com/office/officeart/2005/8/layout/process1"/>
    <dgm:cxn modelId="{BE6060D4-BACB-8E48-BBF9-84C9960CC373}" type="presParOf" srcId="{E94E5256-A591-194C-8EEF-EB36C46D9EFD}" destId="{8B4BB05E-A1DD-A044-9F5C-F428F6642BD2}" srcOrd="1" destOrd="0" presId="urn:microsoft.com/office/officeart/2005/8/layout/process1"/>
    <dgm:cxn modelId="{0B993D3B-3A42-824D-BFE4-3C90D731710C}" type="presParOf" srcId="{8B4BB05E-A1DD-A044-9F5C-F428F6642BD2}" destId="{7BB686B0-A612-E340-A1DD-A2E9470D780C}" srcOrd="0" destOrd="0" presId="urn:microsoft.com/office/officeart/2005/8/layout/process1"/>
    <dgm:cxn modelId="{FC3992F2-A051-464D-9631-6D829C007388}" type="presParOf" srcId="{E94E5256-A591-194C-8EEF-EB36C46D9EFD}" destId="{8CC53D10-A590-9148-8FA9-5EB2E642CF60}" srcOrd="2" destOrd="0" presId="urn:microsoft.com/office/officeart/2005/8/layout/process1"/>
    <dgm:cxn modelId="{7EFC6AA1-F9BC-644A-87D3-294E67CC9488}" type="presParOf" srcId="{E94E5256-A591-194C-8EEF-EB36C46D9EFD}" destId="{20AB469D-CAA5-3B42-A61D-EC44D6C69025}" srcOrd="3" destOrd="0" presId="urn:microsoft.com/office/officeart/2005/8/layout/process1"/>
    <dgm:cxn modelId="{4516BF47-06FA-464F-8C70-28335BBE0EE7}" type="presParOf" srcId="{20AB469D-CAA5-3B42-A61D-EC44D6C69025}" destId="{D0DC0998-4603-CA41-9EEE-D97DC953B468}" srcOrd="0" destOrd="0" presId="urn:microsoft.com/office/officeart/2005/8/layout/process1"/>
    <dgm:cxn modelId="{137EEBDF-71B6-744E-A48C-201B872CCEC7}" type="presParOf" srcId="{E94E5256-A591-194C-8EEF-EB36C46D9EFD}" destId="{86611AEE-35EC-D848-A70F-25A0260768A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17171-A4DA-224E-A046-C3549A508AAC}">
      <dsp:nvSpPr>
        <dsp:cNvPr id="0" name=""/>
        <dsp:cNvSpPr/>
      </dsp:nvSpPr>
      <dsp:spPr>
        <a:xfrm>
          <a:off x="7143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Select a dataset to use for generation</a:t>
          </a:r>
        </a:p>
      </dsp:txBody>
      <dsp:txXfrm>
        <a:off x="44665" y="528059"/>
        <a:ext cx="2060143" cy="1206068"/>
      </dsp:txXfrm>
    </dsp:sp>
    <dsp:sp modelId="{8B4BB05E-A1DD-A044-9F5C-F428F6642BD2}">
      <dsp:nvSpPr>
        <dsp:cNvPr id="0" name=""/>
        <dsp:cNvSpPr/>
      </dsp:nvSpPr>
      <dsp:spPr>
        <a:xfrm>
          <a:off x="2355850" y="86633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355850" y="972235"/>
        <a:ext cx="316861" cy="317716"/>
      </dsp:txXfrm>
    </dsp:sp>
    <dsp:sp modelId="{8CC53D10-A590-9148-8FA9-5EB2E642CF60}">
      <dsp:nvSpPr>
        <dsp:cNvPr id="0" name=""/>
        <dsp:cNvSpPr/>
      </dsp:nvSpPr>
      <dsp:spPr>
        <a:xfrm>
          <a:off x="2996406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 noise to all the pixels</a:t>
          </a:r>
        </a:p>
      </dsp:txBody>
      <dsp:txXfrm>
        <a:off x="3033928" y="528059"/>
        <a:ext cx="2060143" cy="1206068"/>
      </dsp:txXfrm>
    </dsp:sp>
    <dsp:sp modelId="{20AB469D-CAA5-3B42-A61D-EC44D6C69025}">
      <dsp:nvSpPr>
        <dsp:cNvPr id="0" name=""/>
        <dsp:cNvSpPr/>
      </dsp:nvSpPr>
      <dsp:spPr>
        <a:xfrm>
          <a:off x="5345112" y="86633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345112" y="972235"/>
        <a:ext cx="316861" cy="317716"/>
      </dsp:txXfrm>
    </dsp:sp>
    <dsp:sp modelId="{86611AEE-35EC-D848-A70F-25A0260768A1}">
      <dsp:nvSpPr>
        <dsp:cNvPr id="0" name=""/>
        <dsp:cNvSpPr/>
      </dsp:nvSpPr>
      <dsp:spPr>
        <a:xfrm>
          <a:off x="5985668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 until the picture looks like noise</a:t>
          </a:r>
        </a:p>
      </dsp:txBody>
      <dsp:txXfrm>
        <a:off x="6023190" y="528059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17171-A4DA-224E-A046-C3549A508AAC}">
      <dsp:nvSpPr>
        <dsp:cNvPr id="0" name=""/>
        <dsp:cNvSpPr/>
      </dsp:nvSpPr>
      <dsp:spPr>
        <a:xfrm>
          <a:off x="7143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Noisy</a:t>
          </a:r>
          <a:r>
            <a:rPr lang="en-US" sz="1800" kern="1200" baseline="0" dirty="0"/>
            <a:t> images dataset</a:t>
          </a:r>
          <a:endParaRPr lang="en-US" sz="1800" kern="1200" dirty="0"/>
        </a:p>
      </dsp:txBody>
      <dsp:txXfrm>
        <a:off x="44665" y="528059"/>
        <a:ext cx="2060143" cy="1206068"/>
      </dsp:txXfrm>
    </dsp:sp>
    <dsp:sp modelId="{8B4BB05E-A1DD-A044-9F5C-F428F6642BD2}">
      <dsp:nvSpPr>
        <dsp:cNvPr id="0" name=""/>
        <dsp:cNvSpPr/>
      </dsp:nvSpPr>
      <dsp:spPr>
        <a:xfrm>
          <a:off x="2355850" y="86633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55850" y="972235"/>
        <a:ext cx="316861" cy="317716"/>
      </dsp:txXfrm>
    </dsp:sp>
    <dsp:sp modelId="{8CC53D10-A590-9148-8FA9-5EB2E642CF60}">
      <dsp:nvSpPr>
        <dsp:cNvPr id="0" name=""/>
        <dsp:cNvSpPr/>
      </dsp:nvSpPr>
      <dsp:spPr>
        <a:xfrm>
          <a:off x="2996406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Auto-encoder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</a:t>
          </a:r>
        </a:p>
      </dsp:txBody>
      <dsp:txXfrm>
        <a:off x="3033928" y="528059"/>
        <a:ext cx="2060143" cy="1206068"/>
      </dsp:txXfrm>
    </dsp:sp>
    <dsp:sp modelId="{20AB469D-CAA5-3B42-A61D-EC44D6C69025}">
      <dsp:nvSpPr>
        <dsp:cNvPr id="0" name=""/>
        <dsp:cNvSpPr/>
      </dsp:nvSpPr>
      <dsp:spPr>
        <a:xfrm>
          <a:off x="5345112" y="86633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45112" y="972235"/>
        <a:ext cx="316861" cy="317716"/>
      </dsp:txXfrm>
    </dsp:sp>
    <dsp:sp modelId="{86611AEE-35EC-D848-A70F-25A0260768A1}">
      <dsp:nvSpPr>
        <dsp:cNvPr id="0" name=""/>
        <dsp:cNvSpPr/>
      </dsp:nvSpPr>
      <dsp:spPr>
        <a:xfrm>
          <a:off x="5985668" y="49053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Define error in terms of generated and input images</a:t>
          </a:r>
        </a:p>
      </dsp:txBody>
      <dsp:txXfrm>
        <a:off x="6023190" y="528059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17171-A4DA-224E-A046-C3549A508AAC}">
      <dsp:nvSpPr>
        <dsp:cNvPr id="0" name=""/>
        <dsp:cNvSpPr/>
      </dsp:nvSpPr>
      <dsp:spPr>
        <a:xfrm>
          <a:off x="8790" y="962183"/>
          <a:ext cx="2627281" cy="1576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Generate Random Noise and input time step t</a:t>
          </a:r>
        </a:p>
      </dsp:txBody>
      <dsp:txXfrm>
        <a:off x="54960" y="1008353"/>
        <a:ext cx="2534941" cy="1484028"/>
      </dsp:txXfrm>
    </dsp:sp>
    <dsp:sp modelId="{8B4BB05E-A1DD-A044-9F5C-F428F6642BD2}">
      <dsp:nvSpPr>
        <dsp:cNvPr id="0" name=""/>
        <dsp:cNvSpPr/>
      </dsp:nvSpPr>
      <dsp:spPr>
        <a:xfrm>
          <a:off x="2898799" y="1424584"/>
          <a:ext cx="556983" cy="6515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898799" y="1554897"/>
        <a:ext cx="389888" cy="390939"/>
      </dsp:txXfrm>
    </dsp:sp>
    <dsp:sp modelId="{8CC53D10-A590-9148-8FA9-5EB2E642CF60}">
      <dsp:nvSpPr>
        <dsp:cNvPr id="0" name=""/>
        <dsp:cNvSpPr/>
      </dsp:nvSpPr>
      <dsp:spPr>
        <a:xfrm>
          <a:off x="3686984" y="962183"/>
          <a:ext cx="2627281" cy="1576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 Neural Network to reverse all time steps</a:t>
          </a:r>
        </a:p>
      </dsp:txBody>
      <dsp:txXfrm>
        <a:off x="3733154" y="1008353"/>
        <a:ext cx="2534941" cy="1484028"/>
      </dsp:txXfrm>
    </dsp:sp>
    <dsp:sp modelId="{20AB469D-CAA5-3B42-A61D-EC44D6C69025}">
      <dsp:nvSpPr>
        <dsp:cNvPr id="0" name=""/>
        <dsp:cNvSpPr/>
      </dsp:nvSpPr>
      <dsp:spPr>
        <a:xfrm>
          <a:off x="6576993" y="1424584"/>
          <a:ext cx="556983" cy="6515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76993" y="1554897"/>
        <a:ext cx="389888" cy="390939"/>
      </dsp:txXfrm>
    </dsp:sp>
    <dsp:sp modelId="{86611AEE-35EC-D848-A70F-25A0260768A1}">
      <dsp:nvSpPr>
        <dsp:cNvPr id="0" name=""/>
        <dsp:cNvSpPr/>
      </dsp:nvSpPr>
      <dsp:spPr>
        <a:xfrm>
          <a:off x="7365178" y="962183"/>
          <a:ext cx="2627281" cy="1576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Realistic Image</a:t>
          </a:r>
        </a:p>
      </dsp:txBody>
      <dsp:txXfrm>
        <a:off x="7411348" y="1008353"/>
        <a:ext cx="2534941" cy="1484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06BF6-DFEF-EA49-A290-5F9DA4FC9E4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93C73-D23A-0343-A242-93CD1DBFA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0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A3AE-E0B5-AB76-0DF2-92341A322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944BD-6BD3-839E-679E-863F15A5C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2F6F6-1516-6B83-7764-BE0959FB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538C7-9508-7D7E-66E8-BCFD74D0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9DB5A-773F-C333-FA18-1ACB865E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DB03-5100-D444-D05F-D2CC6D92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148F-5763-FA65-CBF2-8A6B5FB44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11E1E-B456-5A91-411B-E8736A39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924C8-BD44-8316-5FC0-4BE1D25D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CEE5-1528-2722-CD49-60D7FCF5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4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F4ED-BB53-8192-D8DD-80872D75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7A9A9-7F46-88EC-D8C3-4E0CAA9BA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4C0E7-0BFE-8CB1-DEB6-F863462C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D801-745E-D0E4-E2FD-8B6FE2A8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04B0-EB73-41B7-5587-FD0796A3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6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91F5-6FD0-B2F5-495A-D7528263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5398-947C-88C1-D604-8FBD22A56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EEA37-512F-B9FE-7452-91A2F1B3D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AD545-62DB-84DE-C63F-5FFBF2AC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DAADC-9B68-2E71-89E5-0BD334D0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5212-79D8-4290-8109-7DBD5DD5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D416-96BB-B5E8-4256-BAE6CB32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CDB2F-D965-8E5D-0653-AF615736A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DE729-E338-D478-5447-A83E9B123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C611D-907D-9AC1-AA74-68DC37B86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00640-E90E-BC63-1A6E-B9C37B788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D3609-A084-9708-EFB7-19F9F6D0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F1A71-5BAC-0D56-0377-18309EC2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B5E98-FF02-1553-6CD3-60F2788C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2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EC2C-6BF2-493E-44E9-68DA00F6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3B3A7-2B09-AD1A-E90D-5BD823A2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C425D-D0FE-8F4F-FBFE-CA5852B9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DA664-CC7C-E468-FB8C-4A12F08A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03414-C33F-C696-8A2F-784DAD0C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C0623-D8B5-290D-A169-BAB4F735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43D1-DDCB-7504-E2EC-BAB4C115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6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6DAEC-6918-54DF-61B4-8E43DCD6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FF7A0-6960-15DA-0322-924D5E9EA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D2172-71CC-9691-FBAD-774C7BB37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176D9-80E4-8251-C658-4D3E9848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1661E-1538-69D2-03BB-4ED39575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D807F-873B-BF32-4E41-4C15E1AF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7CA1-48EF-2F20-AE56-95A5BF5D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E5E8B-E272-8A3B-D293-F1EE52389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2B4E9-6C5B-8247-78E7-78E68BAFC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454A7-671C-CFFB-476D-FC06BDDB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C87EF-0B96-01BF-6B78-DB1B81AF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934EC-8880-0F85-8BC3-FDDFF809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64D1-34C2-0E0F-5A75-4F059CB5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A1E99-DC24-A9EC-1360-7948A8468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F77A5-CD5B-2CC7-D66A-163CEFE9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12DAA-30E3-E3B3-1289-18CCBC44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6AD96-EEE3-8790-7F3F-55AA5F9D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1641AC-F090-FAB4-451E-DFBE5FCCD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843A8-B199-6D3B-7F17-56276BA80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C095-AFBE-5F12-B0C3-F56EC134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5B6F3-4015-7DFF-DE76-1DAADBF5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B012-9B61-A172-553B-819E3B34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3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4FFE-71EF-2001-D286-4A38162B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3481E-6B48-D593-B3DD-EEDD4B03E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F0DD-61C5-4B5C-41B0-6D6D00AFB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95E5C-363F-0E4F-A39F-D457BC97F10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42156-6B08-F5C4-87ED-C771F9372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20D9B-3151-8B12-2007-5E252C3AD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6BF59-61B7-8441-81C0-4D75BB126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ionbook.mit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book.mit.ed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book.mit.edu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book.mit.edu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4E8FA-E2EF-BBB7-251E-9C92A07F9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Generative Imaging using </a:t>
            </a:r>
            <a:r>
              <a:rPr lang="en-US" sz="4800">
                <a:solidFill>
                  <a:srgbClr val="FFFFFF"/>
                </a:solidFill>
              </a:rPr>
              <a:t>Diffusion Models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C8D2-5553-5836-8FE7-4539DD517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" y="4398682"/>
            <a:ext cx="11832336" cy="1930400"/>
          </a:xfrm>
        </p:spPr>
        <p:txBody>
          <a:bodyPr anchor="ctr">
            <a:normAutofit fontScale="85000" lnSpcReduction="10000"/>
          </a:bodyPr>
          <a:lstStyle/>
          <a:p>
            <a:pPr algn="l"/>
            <a:r>
              <a:rPr lang="en-US" sz="3000" dirty="0"/>
              <a:t>Marios S. Pattichis, FEAMBES, Senior Member, National Academy of Inventors</a:t>
            </a:r>
          </a:p>
          <a:p>
            <a:r>
              <a:rPr lang="en-US" dirty="0"/>
              <a:t>Director of online M.Sc. In Computer Engineering in Applied Machine Learning And AI Systems Engineering</a:t>
            </a:r>
          </a:p>
          <a:p>
            <a:r>
              <a:rPr lang="en-US" dirty="0"/>
              <a:t>Department of Electrical and Computer Engineering</a:t>
            </a:r>
          </a:p>
          <a:p>
            <a:r>
              <a:rPr lang="en-US" dirty="0"/>
              <a:t>The University of New Mexico</a:t>
            </a:r>
          </a:p>
        </p:txBody>
      </p:sp>
    </p:spTree>
    <p:extLst>
      <p:ext uri="{BB962C8B-B14F-4D97-AF65-F5344CB8AC3E}">
        <p14:creationId xmlns:p14="http://schemas.microsoft.com/office/powerpoint/2010/main" val="166965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240E-7AF0-4ED4-3BA7-92712BDF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9FCB-48E0-973A-6210-0353F7353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1" y="1825625"/>
            <a:ext cx="115465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coding examples are adopted from:</a:t>
            </a:r>
          </a:p>
          <a:p>
            <a:pPr marL="0" indent="0">
              <a:buNone/>
            </a:pPr>
            <a:r>
              <a:rPr lang="en-US" dirty="0"/>
              <a:t>A. Géron (2025). </a:t>
            </a:r>
            <a:r>
              <a:rPr lang="en-US" i="1" dirty="0"/>
              <a:t>Hands-On Machine Learning with Scikit-Learn and </a:t>
            </a:r>
            <a:r>
              <a:rPr lang="en-US" i="1" dirty="0" err="1"/>
              <a:t>PyTorch</a:t>
            </a:r>
            <a:r>
              <a:rPr lang="en-US" i="1" dirty="0"/>
              <a:t>: Concepts, Tools, and Techniques to Build Intelligent Systems. </a:t>
            </a:r>
            <a:r>
              <a:rPr lang="en-US" dirty="0"/>
              <a:t>O'Reilly.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basic </a:t>
            </a:r>
            <a:r>
              <a:rPr lang="en-US" b="1" dirty="0"/>
              <a:t>learning models</a:t>
            </a:r>
            <a:r>
              <a:rPr lang="en-US" dirty="0"/>
              <a:t> are from:</a:t>
            </a:r>
          </a:p>
          <a:p>
            <a:pPr marL="0" indent="0">
              <a:buNone/>
            </a:pPr>
            <a:r>
              <a:rPr lang="en-US" dirty="0"/>
              <a:t>Torralba, A., Isola, P., &amp; Freeman, W. T. (2024). </a:t>
            </a:r>
            <a:r>
              <a:rPr lang="en-US" i="1" dirty="0"/>
              <a:t>Foundations of Computer Vision</a:t>
            </a:r>
            <a:r>
              <a:rPr lang="en-US" dirty="0"/>
              <a:t>. The MIT Press. </a:t>
            </a:r>
            <a:r>
              <a:rPr lang="en-US" dirty="0">
                <a:hlinkClick r:id="rId2"/>
              </a:rPr>
              <a:t>https://visionbook.mit.edu/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1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66F9-1C94-F777-2C8C-428A8738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Diffusion Process: Training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38F0B74-6AEF-081F-BB11-B025FE72B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467543"/>
              </p:ext>
            </p:extLst>
          </p:nvPr>
        </p:nvGraphicFramePr>
        <p:xfrm>
          <a:off x="2032000" y="1995190"/>
          <a:ext cx="8128000" cy="226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46232C-CFFF-4B43-F048-8338BC02B942}"/>
              </a:ext>
            </a:extLst>
          </p:cNvPr>
          <p:cNvSpPr txBox="1"/>
          <p:nvPr/>
        </p:nvSpPr>
        <p:spPr>
          <a:xfrm>
            <a:off x="1095375" y="1533525"/>
            <a:ext cx="7079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Step 1. Build a dataset to train the diffusion process: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A56BD-CBC9-3936-E793-19796A36DB4C}"/>
              </a:ext>
            </a:extLst>
          </p:cNvPr>
          <p:cNvSpPr txBox="1"/>
          <p:nvPr/>
        </p:nvSpPr>
        <p:spPr>
          <a:xfrm>
            <a:off x="1095375" y="4026544"/>
            <a:ext cx="10318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Step 2. Train an auto-encoder neural network to remove noise from an image: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01A71E0-0BD7-2F4A-0D58-A873368DB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2630071"/>
              </p:ext>
            </p:extLst>
          </p:nvPr>
        </p:nvGraphicFramePr>
        <p:xfrm>
          <a:off x="2032000" y="4357390"/>
          <a:ext cx="8128000" cy="226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2948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358A-5127-9BE9-DB35-5F782E06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80AA-20C3-F2BE-BB89-EDC3FB10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Diffusion Process: Deployment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F496B1-205C-ED43-E5E4-4826E33B8D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065613"/>
              </p:ext>
            </p:extLst>
          </p:nvPr>
        </p:nvGraphicFramePr>
        <p:xfrm>
          <a:off x="1000125" y="1985664"/>
          <a:ext cx="10001250" cy="350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813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838CBB-B535-92F2-9EEF-EC17A3198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06871"/>
            <a:ext cx="10905066" cy="32442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B13969-5C76-A2EB-44C3-5BA0BA2DA027}"/>
              </a:ext>
            </a:extLst>
          </p:cNvPr>
          <p:cNvSpPr txBox="1"/>
          <p:nvPr/>
        </p:nvSpPr>
        <p:spPr>
          <a:xfrm>
            <a:off x="264435" y="422694"/>
            <a:ext cx="11663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Training dataset:  Create a sequence from any input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0DBC9-F10F-A302-6F82-C1F0702AE5DC}"/>
              </a:ext>
            </a:extLst>
          </p:cNvPr>
          <p:cNvSpPr txBox="1"/>
          <p:nvPr/>
        </p:nvSpPr>
        <p:spPr>
          <a:xfrm>
            <a:off x="8428008" y="5793649"/>
            <a:ext cx="29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https://visionbook.mit.edu/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0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0702-4EEB-58D8-1899-9F5216A1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540"/>
            <a:ext cx="10515600" cy="6973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Generate noisy videos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7D47C-57AF-EDDC-1C76-B1DFE875B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858068"/>
            <a:ext cx="6099048" cy="2743200"/>
          </a:xfrm>
          <a:prstGeom prst="rect">
            <a:avLst/>
          </a:prstGeom>
        </p:spPr>
      </p:pic>
      <p:sp>
        <p:nvSpPr>
          <p:cNvPr id="7" name="Code: add_noise"/>
          <p:cNvSpPr txBox="1"/>
          <p:nvPr/>
        </p:nvSpPr>
        <p:spPr>
          <a:xfrm>
            <a:off x="822960" y="3611880"/>
            <a:ext cx="10543032" cy="3017520"/>
          </a:xfrm>
          <a:prstGeom prst="rect">
            <a:avLst/>
          </a:prstGeom>
          <a:solidFill>
            <a:srgbClr val="1E1E1E"/>
          </a:solidFill>
        </p:spPr>
        <p:txBody>
          <a:bodyPr wrap="none" lIns="137160" tIns="137160" rIns="137160" bIns="137160" rtlCol="0">
            <a:noAutofit/>
          </a:bodyPr>
          <a:lstStyle/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N_STEPS =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1000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                           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number of noise levels: t = 0, 1, ..., 999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s = torch.arange(N_STEPS +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device=device) / N_STEPS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alpha_bar = (torch.cos((s +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0.008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) /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1.008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* math.pi /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2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) **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2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)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cosine schedule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alpha_bar = (alpha_bar[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:] / alpha_bar[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0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]).clamp(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1e-5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)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1 = clean ... ~0 = pure noise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569CD6"/>
                </a:solidFill>
                <a:latin typeface="Courier New"/>
                <a:cs typeface="Courier New"/>
              </a:rPr>
              <a:t>def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add_noise(x0, t, noise):              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x0: clean videos, shape (B, 1, T, H, W)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   ab = alpha_bar[t].view(-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)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one alpha_bar per video, shaped to match x0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   </a:t>
            </a:r>
            <a:r>
              <a:rPr lang="en-US" sz="1400" dirty="0">
                <a:solidFill>
                  <a:srgbClr val="569CD6"/>
                </a:solidFill>
                <a:latin typeface="Courier New"/>
                <a:cs typeface="Courier New"/>
              </a:rPr>
              <a:t>return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ab.sqrt() * x0 + (</a:t>
            </a:r>
            <a:r>
              <a:rPr lang="en-US" sz="1400" dirty="0">
                <a:solidFill>
                  <a:srgbClr val="B5CEA8"/>
                </a:solidFill>
                <a:latin typeface="Courier New"/>
                <a:cs typeface="Courier New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 - ab).sqrt() * noise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x_t = sqrt(ab)*x0 + sqrt(1-ab)*noise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In the training loop: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noise = torch.randn_like(x0)              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random Gaussian noise, same shape as the videos</a:t>
            </a:r>
          </a:p>
          <a:p>
            <a:r>
              <a:rPr lang="en-US" sz="1400" dirty="0">
                <a:solidFill>
                  <a:srgbClr val="D4D4D4"/>
                </a:solidFill>
                <a:latin typeface="Courier New"/>
                <a:cs typeface="Courier New"/>
              </a:rPr>
              <a:t>xt = add_noise(x0, t, noise)                 </a:t>
            </a:r>
            <a:r>
              <a:rPr lang="en-US" sz="1400" dirty="0">
                <a:solidFill>
                  <a:srgbClr val="6A9955"/>
                </a:solidFill>
                <a:latin typeface="Courier New"/>
                <a:cs typeface="Courier New"/>
              </a:rPr>
              <a:t># noisy videos at random noise levels 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13B2E-552C-57A2-9766-3BC0BF4002C5}"/>
              </a:ext>
            </a:extLst>
          </p:cNvPr>
          <p:cNvSpPr txBox="1"/>
          <p:nvPr/>
        </p:nvSpPr>
        <p:spPr>
          <a:xfrm>
            <a:off x="6922008" y="2517592"/>
            <a:ext cx="385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 coefficient keeps going down.</a:t>
            </a:r>
          </a:p>
          <a:p>
            <a:r>
              <a:rPr lang="en-US" dirty="0"/>
              <a:t>Noise coefficient picks up at the end.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763B8-F1CD-A99B-6100-B52130F6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095326"/>
            <a:ext cx="3797300" cy="1193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BC2D3-9A97-BE2A-3C25-1289F05A87D4}"/>
              </a:ext>
            </a:extLst>
          </p:cNvPr>
          <p:cNvSpPr txBox="1"/>
          <p:nvPr/>
        </p:nvSpPr>
        <p:spPr>
          <a:xfrm>
            <a:off x="9565815" y="-26281"/>
            <a:ext cx="2158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 uses:</a:t>
            </a:r>
          </a:p>
          <a:p>
            <a:r>
              <a:rPr lang="en-US" sz="2400" dirty="0"/>
              <a:t>ab = 1 - </a:t>
            </a:r>
            <a:r>
              <a:rPr lang="en-US" sz="2400" dirty="0" err="1"/>
              <a:t>beta_t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beta_t</a:t>
            </a:r>
            <a:r>
              <a:rPr lang="en-US" sz="2400" dirty="0"/>
              <a:t> = 1 – ab.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48442E-61D9-CFFD-5572-9CDA01E3DD3C}"/>
              </a:ext>
            </a:extLst>
          </p:cNvPr>
          <p:cNvCxnSpPr>
            <a:cxnSpLocks/>
          </p:cNvCxnSpPr>
          <p:nvPr/>
        </p:nvCxnSpPr>
        <p:spPr>
          <a:xfrm flipH="1">
            <a:off x="8361802" y="705096"/>
            <a:ext cx="1199212" cy="573891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B14258-B25C-576F-57B3-93F331009734}"/>
              </a:ext>
            </a:extLst>
          </p:cNvPr>
          <p:cNvCxnSpPr>
            <a:cxnSpLocks/>
          </p:cNvCxnSpPr>
          <p:nvPr/>
        </p:nvCxnSpPr>
        <p:spPr>
          <a:xfrm>
            <a:off x="9819155" y="1095326"/>
            <a:ext cx="151110" cy="41212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07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674F-BDC7-0EB1-2422-11D5C75B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noise until it looks like noise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BF04E0-1372-74E8-57D7-EDB0FC3C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662" y="2725947"/>
            <a:ext cx="10891931" cy="20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22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0586D-A88F-E588-1C03-AB354335F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43295"/>
            <a:ext cx="10905066" cy="35714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E6FBE-400F-E1F5-E61B-17A6D6C0D2AF}"/>
              </a:ext>
            </a:extLst>
          </p:cNvPr>
          <p:cNvSpPr txBox="1"/>
          <p:nvPr/>
        </p:nvSpPr>
        <p:spPr>
          <a:xfrm>
            <a:off x="1886201" y="388188"/>
            <a:ext cx="7992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Neural Net Goal: Reverse the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5FAF0-81BB-7DAE-D639-F089F3831BB9}"/>
              </a:ext>
            </a:extLst>
          </p:cNvPr>
          <p:cNvSpPr txBox="1"/>
          <p:nvPr/>
        </p:nvSpPr>
        <p:spPr>
          <a:xfrm>
            <a:off x="8428008" y="5793649"/>
            <a:ext cx="29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https://visionbook.mit.edu/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1151479-95E0-088B-F9C4-8A3233CF3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996" t="79974" r="39450"/>
          <a:stretch>
            <a:fillRect/>
          </a:stretch>
        </p:blipFill>
        <p:spPr>
          <a:xfrm>
            <a:off x="3561347" y="5463336"/>
            <a:ext cx="2132343" cy="660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F54513-0776-228C-2250-17FC39684AC8}"/>
              </a:ext>
            </a:extLst>
          </p:cNvPr>
          <p:cNvSpPr txBox="1"/>
          <p:nvPr/>
        </p:nvSpPr>
        <p:spPr>
          <a:xfrm>
            <a:off x="7649307" y="4220308"/>
            <a:ext cx="3321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will look at embedding</a:t>
            </a:r>
          </a:p>
          <a:p>
            <a:r>
              <a:rPr lang="en-US" dirty="0"/>
              <a:t>the time t and other parameters</a:t>
            </a:r>
          </a:p>
          <a:p>
            <a:r>
              <a:rPr lang="en-US" dirty="0"/>
              <a:t>into the input.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B02F2C-9DD4-8DAF-D58A-E88F0829BAAF}"/>
              </a:ext>
            </a:extLst>
          </p:cNvPr>
          <p:cNvCxnSpPr/>
          <p:nvPr/>
        </p:nvCxnSpPr>
        <p:spPr>
          <a:xfrm flipH="1">
            <a:off x="5556738" y="4800600"/>
            <a:ext cx="2022231" cy="82647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60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C0F54D-088B-B9B4-0E6E-5D8E67D82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2"/>
            <a:ext cx="10905066" cy="42257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48FF2B-58BF-1BFF-58E1-4F2EC8C1388B}"/>
              </a:ext>
            </a:extLst>
          </p:cNvPr>
          <p:cNvSpPr txBox="1"/>
          <p:nvPr/>
        </p:nvSpPr>
        <p:spPr>
          <a:xfrm>
            <a:off x="8428008" y="5793649"/>
            <a:ext cx="29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https://visionbook.mit.edu/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D3E97-5627-BD00-4A92-C0D99E706D9F}"/>
              </a:ext>
            </a:extLst>
          </p:cNvPr>
          <p:cNvSpPr txBox="1"/>
          <p:nvPr/>
        </p:nvSpPr>
        <p:spPr>
          <a:xfrm>
            <a:off x="1340650" y="418018"/>
            <a:ext cx="8541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Use an Auto-encoder as a Diffusion Model</a:t>
            </a:r>
          </a:p>
        </p:txBody>
      </p:sp>
    </p:spTree>
    <p:extLst>
      <p:ext uri="{BB962C8B-B14F-4D97-AF65-F5344CB8AC3E}">
        <p14:creationId xmlns:p14="http://schemas.microsoft.com/office/powerpoint/2010/main" val="190582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0CEE-D27C-2BD3-0982-4909BCAB2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Embedding Time using sinusoids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4C6850-888E-FDFB-32D5-CA0690853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83" y="2330075"/>
            <a:ext cx="11660804" cy="162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BE71-CE0B-048C-E295-1BC56DDC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119" y="121722"/>
            <a:ext cx="12074487" cy="811861"/>
          </a:xfrm>
        </p:spPr>
        <p:txBody>
          <a:bodyPr/>
          <a:lstStyle/>
          <a:p>
            <a:pPr algn="ctr"/>
            <a:r>
              <a:rPr lang="en-US" dirty="0"/>
              <a:t>Residual block: from </a:t>
            </a:r>
            <a:r>
              <a:rPr lang="en-US" dirty="0" err="1"/>
              <a:t>c_in</a:t>
            </a:r>
            <a:r>
              <a:rPr lang="en-US" dirty="0"/>
              <a:t> to </a:t>
            </a:r>
            <a:r>
              <a:rPr lang="en-US" dirty="0" err="1"/>
              <a:t>c_out</a:t>
            </a:r>
            <a:r>
              <a:rPr lang="en-US" dirty="0"/>
              <a:t> channels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113DC2-B414-BF09-C3F5-EB4695D9D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72" y="1928295"/>
            <a:ext cx="11461394" cy="3397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44ED-FE81-384C-06B6-A3269CF4FDC2}"/>
              </a:ext>
            </a:extLst>
          </p:cNvPr>
          <p:cNvSpPr txBox="1"/>
          <p:nvPr/>
        </p:nvSpPr>
        <p:spPr>
          <a:xfrm>
            <a:off x="5024615" y="5612360"/>
            <a:ext cx="6869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ejection fraction embedding propagation through linear layer.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E84B35-1EEF-4CB5-A2CE-9BB7DD4E1502}"/>
              </a:ext>
            </a:extLst>
          </p:cNvPr>
          <p:cNvCxnSpPr>
            <a:cxnSpLocks/>
          </p:cNvCxnSpPr>
          <p:nvPr/>
        </p:nvCxnSpPr>
        <p:spPr>
          <a:xfrm flipH="1" flipV="1">
            <a:off x="6521986" y="4527931"/>
            <a:ext cx="1597445" cy="1084429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0F21F9-4608-7E96-1514-DA17C3CE89FC}"/>
              </a:ext>
            </a:extLst>
          </p:cNvPr>
          <p:cNvSpPr txBox="1"/>
          <p:nvPr/>
        </p:nvSpPr>
        <p:spPr>
          <a:xfrm>
            <a:off x="4975039" y="1076996"/>
            <a:ext cx="6869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skip connection converts from input channels to output channels if needed, enabling a residual connection.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01C2EC-A05B-C7F4-04ED-0F9EB4B594E7}"/>
              </a:ext>
            </a:extLst>
          </p:cNvPr>
          <p:cNvCxnSpPr>
            <a:cxnSpLocks/>
          </p:cNvCxnSpPr>
          <p:nvPr/>
        </p:nvCxnSpPr>
        <p:spPr>
          <a:xfrm flipH="1">
            <a:off x="6096000" y="1641469"/>
            <a:ext cx="161580" cy="188392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AADD97-00FC-2274-D117-BC944413D2BC}"/>
              </a:ext>
            </a:extLst>
          </p:cNvPr>
          <p:cNvSpPr txBox="1"/>
          <p:nvPr/>
        </p:nvSpPr>
        <p:spPr>
          <a:xfrm>
            <a:off x="1091062" y="5671833"/>
            <a:ext cx="6869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 connection.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6744D8-CB40-AB0F-F673-3B2BF1DE3275}"/>
              </a:ext>
            </a:extLst>
          </p:cNvPr>
          <p:cNvCxnSpPr>
            <a:cxnSpLocks/>
          </p:cNvCxnSpPr>
          <p:nvPr/>
        </p:nvCxnSpPr>
        <p:spPr>
          <a:xfrm flipV="1">
            <a:off x="2435645" y="5199960"/>
            <a:ext cx="0" cy="471873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464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1CB4-02A7-C50B-AAAC-DF5CDF34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1" y="49676"/>
            <a:ext cx="11921706" cy="752582"/>
          </a:xfrm>
        </p:spPr>
        <p:txBody>
          <a:bodyPr/>
          <a:lstStyle/>
          <a:p>
            <a:r>
              <a:rPr lang="en-US" dirty="0"/>
              <a:t>UNet3D: Autoencoder with time and </a:t>
            </a:r>
            <a:r>
              <a:rPr lang="en-US" dirty="0" err="1"/>
              <a:t>ef</a:t>
            </a:r>
            <a:r>
              <a:rPr lang="en-US" dirty="0"/>
              <a:t> embeddings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D892C-C2AF-11E3-B0E5-F1D5C5AEF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83" y="1035170"/>
            <a:ext cx="9729486" cy="4575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E01A3-6D14-84A6-80C7-FDD92FFE4EB6}"/>
              </a:ext>
            </a:extLst>
          </p:cNvPr>
          <p:cNvSpPr txBox="1"/>
          <p:nvPr/>
        </p:nvSpPr>
        <p:spPr>
          <a:xfrm>
            <a:off x="8319585" y="4399471"/>
            <a:ext cx="3700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ejection fraction embedding.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B2C8E-34A7-2949-47FC-0D62F81A00D7}"/>
              </a:ext>
            </a:extLst>
          </p:cNvPr>
          <p:cNvCxnSpPr>
            <a:cxnSpLocks/>
          </p:cNvCxnSpPr>
          <p:nvPr/>
        </p:nvCxnSpPr>
        <p:spPr>
          <a:xfrm flipH="1" flipV="1">
            <a:off x="7539487" y="4106174"/>
            <a:ext cx="780098" cy="493352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CBAE51-B344-FDB6-8088-FF42624AAD4B}"/>
              </a:ext>
            </a:extLst>
          </p:cNvPr>
          <p:cNvCxnSpPr>
            <a:cxnSpLocks/>
          </p:cNvCxnSpPr>
          <p:nvPr/>
        </p:nvCxnSpPr>
        <p:spPr>
          <a:xfrm flipH="1" flipV="1">
            <a:off x="9158835" y="2187626"/>
            <a:ext cx="1637695" cy="2296239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65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1DF4-8731-3DCC-657E-6C3428BA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65" y="122754"/>
            <a:ext cx="10515600" cy="747579"/>
          </a:xfrm>
        </p:spPr>
        <p:txBody>
          <a:bodyPr/>
          <a:lstStyle/>
          <a:p>
            <a:pPr algn="ctr"/>
            <a:r>
              <a:rPr lang="en-US" dirty="0"/>
              <a:t>Training EMA using UNet3D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7E01B8-6E7B-221E-FA93-60E64601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1" y="1121502"/>
            <a:ext cx="8605619" cy="51911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F38900-803D-3C47-26F8-A20D322FD0E7}"/>
              </a:ext>
            </a:extLst>
          </p:cNvPr>
          <p:cNvSpPr txBox="1"/>
          <p:nvPr/>
        </p:nvSpPr>
        <p:spPr>
          <a:xfrm>
            <a:off x="9364337" y="1751683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ema model.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C0DE5C-6198-937B-B351-6DD04FA45F59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1982515"/>
            <a:ext cx="3268337" cy="3593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BB9F5D-E4DF-4C57-EF8E-6C4AC9D46CF4}"/>
              </a:ext>
            </a:extLst>
          </p:cNvPr>
          <p:cNvSpPr txBox="1"/>
          <p:nvPr/>
        </p:nvSpPr>
        <p:spPr>
          <a:xfrm>
            <a:off x="9033831" y="6274370"/>
            <a:ext cx="2468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Train ema model.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D52A47-DBF2-0BD0-F9C9-206413F7B966}"/>
              </a:ext>
            </a:extLst>
          </p:cNvPr>
          <p:cNvCxnSpPr>
            <a:cxnSpLocks/>
          </p:cNvCxnSpPr>
          <p:nvPr/>
        </p:nvCxnSpPr>
        <p:spPr>
          <a:xfrm flipH="1" flipV="1">
            <a:off x="4559904" y="6274370"/>
            <a:ext cx="4473927" cy="26912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2B6171-12A4-DC97-2E9C-27786505A06D}"/>
              </a:ext>
            </a:extLst>
          </p:cNvPr>
          <p:cNvSpPr txBox="1"/>
          <p:nvPr/>
        </p:nvSpPr>
        <p:spPr>
          <a:xfrm>
            <a:off x="6969334" y="3005439"/>
            <a:ext cx="529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Add noise and train UNet3D to reverse.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097A06-02C6-F350-03BD-C74F93752DC7}"/>
              </a:ext>
            </a:extLst>
          </p:cNvPr>
          <p:cNvCxnSpPr>
            <a:cxnSpLocks/>
          </p:cNvCxnSpPr>
          <p:nvPr/>
        </p:nvCxnSpPr>
        <p:spPr>
          <a:xfrm flipH="1">
            <a:off x="5453349" y="3544362"/>
            <a:ext cx="2631195" cy="609196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407C46-D733-040C-A2FB-A0ECC45DF529}"/>
              </a:ext>
            </a:extLst>
          </p:cNvPr>
          <p:cNvCxnSpPr>
            <a:cxnSpLocks/>
          </p:cNvCxnSpPr>
          <p:nvPr/>
        </p:nvCxnSpPr>
        <p:spPr>
          <a:xfrm flipH="1">
            <a:off x="8725360" y="3492024"/>
            <a:ext cx="2682606" cy="1322677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76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CAB96-74EB-0A22-C2E4-59554DA8E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736" y="141109"/>
            <a:ext cx="9642557" cy="65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2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A7C92F-4BF4-3809-3B78-0D5029DFD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09" y="1046603"/>
            <a:ext cx="10830127" cy="50347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4DC963-F784-6C71-44DB-6DC5BFD5C281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1046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Use ema to generate the target with given </a:t>
            </a:r>
            <a:r>
              <a:rPr lang="en-US" dirty="0" err="1"/>
              <a:t>ef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A7A03-D551-A3F5-187C-A7831481A188}"/>
              </a:ext>
            </a:extLst>
          </p:cNvPr>
          <p:cNvSpPr txBox="1"/>
          <p:nvPr/>
        </p:nvSpPr>
        <p:spPr>
          <a:xfrm>
            <a:off x="6930510" y="4944407"/>
            <a:ext cx="4670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Generate these ejection fractions.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333BC2-7A3F-D50A-EBBD-BE3F50D61DC7}"/>
              </a:ext>
            </a:extLst>
          </p:cNvPr>
          <p:cNvCxnSpPr>
            <a:cxnSpLocks/>
          </p:cNvCxnSpPr>
          <p:nvPr/>
        </p:nvCxnSpPr>
        <p:spPr>
          <a:xfrm flipH="1">
            <a:off x="6180463" y="5175239"/>
            <a:ext cx="750047" cy="0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01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4060-73D0-78B7-E263-D8143A0E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184150"/>
            <a:ext cx="10515600" cy="1325563"/>
          </a:xfrm>
        </p:spPr>
        <p:txBody>
          <a:bodyPr/>
          <a:lstStyle/>
          <a:p>
            <a:r>
              <a:rPr lang="en-US" dirty="0"/>
              <a:t>Example Output: Heart Videos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C7F8D-4945-259E-2C35-7F5861009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6556248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A2C4DE-22E7-037C-5FAA-30C72761360F}"/>
              </a:ext>
            </a:extLst>
          </p:cNvPr>
          <p:cNvSpPr txBox="1"/>
          <p:nvPr/>
        </p:nvSpPr>
        <p:spPr>
          <a:xfrm>
            <a:off x="7635240" y="5257800"/>
            <a:ext cx="4206240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Above: requested EF vs. EF measured in 64 generated videos.</a:t>
            </a:r>
          </a:p>
          <a:p>
            <a:r>
              <a:rPr lang="en-US" sz="1200" b="1" dirty="0"/>
              <a:t>Correlation 0.77, mean error 0.07</a:t>
            </a:r>
          </a:p>
          <a:p>
            <a:r>
              <a:rPr lang="en-US" sz="1600" dirty="0"/>
              <a:t>Do the videos appear realistic? Does each heart pump as requested?</a:t>
            </a:r>
          </a:p>
        </p:txBody>
      </p:sp>
      <p:pic>
        <p:nvPicPr>
          <p:cNvPr id="7" name="EF scatter" descr="Requested EF versus EF measured in 64 generated vide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880360"/>
            <a:ext cx="2331720" cy="2331720"/>
          </a:xfrm>
          <a:prstGeom prst="rect">
            <a:avLst/>
          </a:prstGeom>
        </p:spPr>
      </p:pic>
      <p:sp>
        <p:nvSpPr>
          <p:cNvPr id="8" name="EF definition"/>
          <p:cNvSpPr txBox="1"/>
          <p:nvPr/>
        </p:nvSpPr>
        <p:spPr>
          <a:xfrm>
            <a:off x="7498079" y="141732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E8EEF7"/>
          </a:solidFill>
        </p:spPr>
        <p:txBody>
          <a:bodyPr wrap="square" lIns="109728" tIns="73152" rIns="109728" bIns="73152" rtlCol="0">
            <a:normAutofit fontScale="92500"/>
          </a:bodyPr>
          <a:lstStyle/>
          <a:p>
            <a:pPr>
              <a:spcAft>
                <a:spcPts val="300"/>
              </a:spcAft>
            </a:pPr>
            <a:r>
              <a:rPr lang="en-US" sz="1300" b="1" dirty="0">
                <a:solidFill>
                  <a:srgbClr val="1F2A44"/>
                </a:solidFill>
              </a:rPr>
              <a:t>Ejection fraction (EF): </a:t>
            </a:r>
            <a:r>
              <a:rPr lang="en-US" sz="1300" dirty="0">
                <a:solidFill>
                  <a:srgbClr val="1F2A44"/>
                </a:solidFill>
              </a:rPr>
              <a:t>the fraction of blood the left ventricle pumps out with each heartbeat.</a:t>
            </a:r>
          </a:p>
          <a:p>
            <a:pPr>
              <a:spcAft>
                <a:spcPts val="300"/>
              </a:spcAft>
            </a:pPr>
            <a:r>
              <a:rPr lang="en-US" sz="1300" b="1" dirty="0">
                <a:solidFill>
                  <a:srgbClr val="1F2A44"/>
                </a:solidFill>
              </a:rPr>
              <a:t>EF = (EDV − ESV) / EDV</a:t>
            </a:r>
            <a:r>
              <a:rPr lang="en-US" sz="1100" dirty="0">
                <a:solidFill>
                  <a:srgbClr val="1F2A44"/>
                </a:solidFill>
              </a:rPr>
              <a:t>   EDV, ESV: ventricle volume when most filled / most emptied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F2A44"/>
                </a:solidFill>
              </a:rPr>
              <a:t>Normal: about 55–70%.  40% or less: reduced (heart failure).</a:t>
            </a:r>
          </a:p>
          <a:p>
            <a:pPr>
              <a:spcAft>
                <a:spcPts val="300"/>
              </a:spcAft>
            </a:pPr>
            <a:r>
              <a:rPr lang="en-US" sz="1200" i="1" dirty="0">
                <a:solidFill>
                  <a:srgbClr val="1F2A44"/>
                </a:solidFill>
              </a:rPr>
              <a:t>In our videos (2D): EF = 1 − smallest cavity area / largest cavity area</a:t>
            </a:r>
          </a:p>
        </p:txBody>
      </p:sp>
    </p:spTree>
    <p:extLst>
      <p:ext uri="{BB962C8B-B14F-4D97-AF65-F5344CB8AC3E}">
        <p14:creationId xmlns:p14="http://schemas.microsoft.com/office/powerpoint/2010/main" val="155050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14750</TotalTime>
  <Words>762</Words>
  <Application>Microsoft Macintosh PowerPoint</Application>
  <PresentationFormat>Widescreen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Generative Imaging using Diffusion Models</vt:lpstr>
      <vt:lpstr>References</vt:lpstr>
      <vt:lpstr>The Diffusion Process: Training</vt:lpstr>
      <vt:lpstr>The Diffusion Process: Deployment</vt:lpstr>
      <vt:lpstr>PowerPoint Presentation</vt:lpstr>
      <vt:lpstr>Generate noisy videos</vt:lpstr>
      <vt:lpstr>Adding noise until it looks like noise</vt:lpstr>
      <vt:lpstr>PowerPoint Presentation</vt:lpstr>
      <vt:lpstr>PowerPoint Presentation</vt:lpstr>
      <vt:lpstr>Embedding Time using sinusoids</vt:lpstr>
      <vt:lpstr>Residual block: from c_in to c_out channels</vt:lpstr>
      <vt:lpstr>UNet3D: Autoencoder with time and ef embeddings</vt:lpstr>
      <vt:lpstr>Training EMA using UNet3D </vt:lpstr>
      <vt:lpstr>PowerPoint Presentation</vt:lpstr>
      <vt:lpstr>PowerPoint Presentation</vt:lpstr>
      <vt:lpstr>Example Output: Heart Videos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79</cp:revision>
  <cp:lastPrinted>2025-09-05T16:42:09Z</cp:lastPrinted>
  <dcterms:created xsi:type="dcterms:W3CDTF">2025-09-02T12:16:57Z</dcterms:created>
  <dcterms:modified xsi:type="dcterms:W3CDTF">2026-09-28T01:37:42Z</dcterms:modified>
</cp:coreProperties>
</file>