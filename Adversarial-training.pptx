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2" r:id="rId4"/>
    <p:sldId id="261" r:id="rId5"/>
    <p:sldId id="264" r:id="rId6"/>
    <p:sldId id="265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42"/>
    <p:restoredTop sz="94657"/>
  </p:normalViewPr>
  <p:slideViewPr>
    <p:cSldViewPr snapToGrid="0">
      <p:cViewPr varScale="1">
        <p:scale>
          <a:sx n="118" d="100"/>
          <a:sy n="118" d="100"/>
        </p:scale>
        <p:origin x="24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739C-D644-B2AA-9C23-C713C38D0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AAE45-8CFE-652C-B6AA-F5BEABC3D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16D67-04BA-3C60-CA5B-253E63C9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3D10-AD59-BBC4-C9FA-8A8EB437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CEAC0-CFB6-E18C-9B0D-53D9211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92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53A6-C5B4-F3B5-F7B8-1AB92CD7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DE7F0-E342-6AAB-65BD-9A2C779C3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D5978-6129-E99B-E4F4-FF594589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0C2F-668D-B5A5-7893-5F18ACF1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5925A-88AA-769C-44E7-E2201603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6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245B-C912-F38B-0EB7-0389A876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1EC4A-556C-9AD5-A4C4-795707DE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1026-E863-DD1C-3B49-05370CF4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6935F-CACE-419D-C017-BBC19979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06A8-C0BF-27DD-2C54-94BD370A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6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757C-EFA1-8CBD-D342-A6FC2CB1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6F90-9973-7A0A-EE0D-0A6C8B1E6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CAFF2-89DF-AB85-3193-CAFDCE6AF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7526E-5AE0-48D3-1398-69A731A5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3FFFE-D056-53A6-B27B-EEBE8E4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7557D-2DAF-A4FD-DD4B-59E7FC23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8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9F9C-B125-A3EC-9FFC-E2A9F2BE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6B332-DB21-1BA2-DFEF-DDDB69C5D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78F40-22AC-2A20-6FCE-303E58DC9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2E1CB-6E99-C805-6CBA-8ED9CD4DC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296EA-7CBA-0CAA-BCBF-9CE4DB14B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00066-FF7D-AF30-80D7-0E9FB944E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AAF07-0B5D-B06E-0764-F56F32EF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6FF67-46C8-FA03-69BF-53B093EB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0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D55C-22AE-432A-DC2F-17169823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DDDC9-85E2-F25B-CA12-1958D884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2B9F5-CC98-3324-4422-932CCF0F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C3773-677B-7B4E-34FD-531D73DE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5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EF8C1-5405-D3C6-35B0-B4C77433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29E67F-1862-F7EC-C408-859FBB57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A7C93-063F-741A-2118-5961AF10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4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6B22-1EF5-6DE6-B649-04B64CA0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8363-AC2F-8338-CE72-0B20918D9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2477D-F43D-F987-E424-48E78A3C3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834B3-4799-6399-C6C0-543E5B2A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4980D-755E-FF79-3857-3BDD1AA8C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3F37-A884-538E-57F5-3D04BF3D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247F-2AAC-F220-A28B-43BDD228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8F0F0-2FFA-7EDF-4296-4ADAB6E0E9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D7EB0-E5F2-5330-BBBB-5BF555CAF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89EFB-15AA-823D-2991-459E3A2B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0795D-800C-22E1-B06E-1C4FFFC3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9C369-2933-761F-3EF1-FA884DDD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9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B147C-9D34-0200-E42B-47BEB45F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E28C7-0D5F-7470-3350-56A1955D4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A7083-943B-383B-1010-5E0EB887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B2333-F470-F771-E315-DC61D1A6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253CB-522A-B1C8-4067-1A15C464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1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DB59C-DE3C-C75E-24BA-8204E887A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42238-4B94-130F-EE2F-DB3F8E43C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7958E-291C-7DC2-0106-EA01C576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EC728-71C1-1F88-1007-0AFE9992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0F938-932D-7FDA-F69E-09F69C27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2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0A9BE5-B507-7610-2BA5-1D66204A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B6F5D-873C-4B9F-59D2-EA7B63E6F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35ED6-79AE-44DA-260F-3AB51FE63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439F-3E90-078C-770E-F1E3625E5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CE25-0DE7-8C8C-41E0-28464198B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5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14E1-9765-1505-AEE5-7A351C4F3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4352"/>
            <a:ext cx="9144000" cy="2387600"/>
          </a:xfrm>
        </p:spPr>
        <p:txBody>
          <a:bodyPr/>
          <a:lstStyle/>
          <a:p>
            <a:r>
              <a:rPr lang="en-US" dirty="0"/>
              <a:t>Adversarial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0C13-7E07-37A0-6FA0-A0D9B622C8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Marios S. Pattichis, FEAMBES, SM NAI</a:t>
            </a:r>
          </a:p>
          <a:p>
            <a:r>
              <a:rPr lang="en-US" dirty="0"/>
              <a:t>Department of Electrical and Computer Engineering</a:t>
            </a:r>
          </a:p>
          <a:p>
            <a:r>
              <a:rPr lang="en-US" dirty="0"/>
              <a:t>The University of New Mexico, USA</a:t>
            </a:r>
          </a:p>
        </p:txBody>
      </p:sp>
    </p:spTree>
    <p:extLst>
      <p:ext uri="{BB962C8B-B14F-4D97-AF65-F5344CB8AC3E}">
        <p14:creationId xmlns:p14="http://schemas.microsoft.com/office/powerpoint/2010/main" val="19805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0DAE-54DD-160E-49EC-14EE8AB0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578" y="349627"/>
            <a:ext cx="10950844" cy="1325563"/>
          </a:xfrm>
        </p:spPr>
        <p:txBody>
          <a:bodyPr/>
          <a:lstStyle/>
          <a:p>
            <a:r>
              <a:rPr lang="en-US" dirty="0"/>
              <a:t>Simulated videos for EF=20 (left), EF=70 (right)</a:t>
            </a:r>
          </a:p>
        </p:txBody>
      </p:sp>
      <p:pic>
        <p:nvPicPr>
          <p:cNvPr id="4" name="real_EF20">
            <a:hlinkClick r:id="" action="ppaction://media"/>
            <a:extLst>
              <a:ext uri="{FF2B5EF4-FFF2-40B4-BE49-F238E27FC236}">
                <a16:creationId xmlns:a16="http://schemas.microsoft.com/office/drawing/2014/main" id="{B64C67AE-E8AF-ED77-4099-24A877A53E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28486" y="1489166"/>
            <a:ext cx="3377157" cy="3377157"/>
          </a:xfrm>
          <a:prstGeom prst="rect">
            <a:avLst/>
          </a:prstGeom>
        </p:spPr>
      </p:pic>
      <p:pic>
        <p:nvPicPr>
          <p:cNvPr id="5" name="real_EF70">
            <a:hlinkClick r:id="" action="ppaction://media"/>
            <a:extLst>
              <a:ext uri="{FF2B5EF4-FFF2-40B4-BE49-F238E27FC236}">
                <a16:creationId xmlns:a16="http://schemas.microsoft.com/office/drawing/2014/main" id="{6C01A33E-6186-1C8A-8722-D20574E038A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52665" y="1489166"/>
            <a:ext cx="3377157" cy="3377157"/>
          </a:xfrm>
          <a:prstGeom prst="rect">
            <a:avLst/>
          </a:prstGeom>
        </p:spPr>
      </p:pic>
      <p:sp>
        <p:nvSpPr>
          <p:cNvPr id="6" name="EF definition">
            <a:extLst>
              <a:ext uri="{FF2B5EF4-FFF2-40B4-BE49-F238E27FC236}">
                <a16:creationId xmlns:a16="http://schemas.microsoft.com/office/drawing/2014/main" id="{9D1D6215-5A92-FE52-8B8A-380F8D734F50}"/>
              </a:ext>
            </a:extLst>
          </p:cNvPr>
          <p:cNvSpPr txBox="1"/>
          <p:nvPr/>
        </p:nvSpPr>
        <p:spPr>
          <a:xfrm>
            <a:off x="398902" y="5013960"/>
            <a:ext cx="11523132" cy="1674222"/>
          </a:xfrm>
          <a:prstGeom prst="roundRect">
            <a:avLst>
              <a:gd name="adj" fmla="val 6000"/>
            </a:avLst>
          </a:prstGeom>
          <a:solidFill>
            <a:srgbClr val="E8EEF7"/>
          </a:solidFill>
        </p:spPr>
        <p:txBody>
          <a:bodyPr wrap="square" lIns="109728" tIns="73152" rIns="109728" bIns="73152" rtlCol="0">
            <a:normAutofit fontScale="92500"/>
          </a:bodyPr>
          <a:lstStyle/>
          <a:p>
            <a:pPr>
              <a:spcAft>
                <a:spcPts val="300"/>
              </a:spcAft>
            </a:pPr>
            <a:r>
              <a:rPr lang="en-US" sz="2400" b="1" dirty="0">
                <a:solidFill>
                  <a:srgbClr val="1F2A44"/>
                </a:solidFill>
              </a:rPr>
              <a:t>Ejection fraction (EF): </a:t>
            </a:r>
            <a:r>
              <a:rPr lang="en-US" sz="2400" dirty="0">
                <a:solidFill>
                  <a:srgbClr val="1F2A44"/>
                </a:solidFill>
              </a:rPr>
              <a:t>the fraction of blood the left ventricle pumps out with each heartbeat.</a:t>
            </a:r>
          </a:p>
          <a:p>
            <a:pPr>
              <a:spcAft>
                <a:spcPts val="300"/>
              </a:spcAft>
            </a:pPr>
            <a:r>
              <a:rPr lang="en-US" sz="2400" b="1" dirty="0">
                <a:solidFill>
                  <a:srgbClr val="1F2A44"/>
                </a:solidFill>
              </a:rPr>
              <a:t>EF = (EDV − ESV) / EDV</a:t>
            </a:r>
            <a:r>
              <a:rPr lang="en-US" sz="2000" dirty="0">
                <a:solidFill>
                  <a:srgbClr val="1F2A44"/>
                </a:solidFill>
              </a:rPr>
              <a:t>   EDV, ESV: ventricle volume when most filled / most emptied</a:t>
            </a:r>
          </a:p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1F2A44"/>
                </a:solidFill>
              </a:rPr>
              <a:t>Normal: about 55–70%.  40% or less: reduced (heart failure).</a:t>
            </a:r>
          </a:p>
          <a:p>
            <a:pPr>
              <a:spcAft>
                <a:spcPts val="300"/>
              </a:spcAft>
            </a:pPr>
            <a:r>
              <a:rPr lang="en-US" sz="2400" i="1" dirty="0">
                <a:solidFill>
                  <a:srgbClr val="1F2A44"/>
                </a:solidFill>
              </a:rPr>
              <a:t>In our videos (2D): EF = 1 − smallest cavity area / largest cavity area. A bad approx.</a:t>
            </a:r>
          </a:p>
        </p:txBody>
      </p:sp>
    </p:spTree>
    <p:extLst>
      <p:ext uri="{BB962C8B-B14F-4D97-AF65-F5344CB8AC3E}">
        <p14:creationId xmlns:p14="http://schemas.microsoft.com/office/powerpoint/2010/main" val="198831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1756-E525-CC42-68A0-C57AB027D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87" y="99813"/>
            <a:ext cx="11170713" cy="10456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Adversarial attack over mask, random start, and steps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513F34-0238-7DAB-C574-6EBBE459A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900" y="5560770"/>
            <a:ext cx="10248890" cy="410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E18C82-A960-6969-77DD-808DD0882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7" y="1367247"/>
            <a:ext cx="10520999" cy="33789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5B260C-AAB1-A4D7-7F60-3F7EBD06A0D4}"/>
              </a:ext>
            </a:extLst>
          </p:cNvPr>
          <p:cNvSpPr txBox="1"/>
          <p:nvPr/>
        </p:nvSpPr>
        <p:spPr>
          <a:xfrm>
            <a:off x="4965681" y="3985651"/>
            <a:ext cx="5617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Attack using the sign of the gradient of the added delta.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8F0E09-6BBB-2623-DD3C-9299E72EAE3C}"/>
              </a:ext>
            </a:extLst>
          </p:cNvPr>
          <p:cNvSpPr txBox="1"/>
          <p:nvPr/>
        </p:nvSpPr>
        <p:spPr>
          <a:xfrm>
            <a:off x="8471614" y="2835934"/>
            <a:ext cx="3721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delta = uniform random noise input.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86870D-E17D-3F78-B232-E73CB461F057}"/>
              </a:ext>
            </a:extLst>
          </p:cNvPr>
          <p:cNvCxnSpPr>
            <a:cxnSpLocks/>
          </p:cNvCxnSpPr>
          <p:nvPr/>
        </p:nvCxnSpPr>
        <p:spPr>
          <a:xfrm flipH="1" flipV="1">
            <a:off x="5631366" y="2576311"/>
            <a:ext cx="2840248" cy="444289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8CB882-0FE3-F6FC-74FA-857169764C03}"/>
              </a:ext>
            </a:extLst>
          </p:cNvPr>
          <p:cNvCxnSpPr>
            <a:cxnSpLocks/>
          </p:cNvCxnSpPr>
          <p:nvPr/>
        </p:nvCxnSpPr>
        <p:spPr>
          <a:xfrm flipH="1" flipV="1">
            <a:off x="5631366" y="3791220"/>
            <a:ext cx="1150434" cy="24883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5971CE-6EDE-E90B-49A5-06D4DAE14462}"/>
              </a:ext>
            </a:extLst>
          </p:cNvPr>
          <p:cNvCxnSpPr>
            <a:cxnSpLocks/>
          </p:cNvCxnSpPr>
          <p:nvPr/>
        </p:nvCxnSpPr>
        <p:spPr>
          <a:xfrm flipH="1" flipV="1">
            <a:off x="3875314" y="4685211"/>
            <a:ext cx="390098" cy="240993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EE6AB4D-4F54-9881-C0E1-73AFF53F3A30}"/>
              </a:ext>
            </a:extLst>
          </p:cNvPr>
          <p:cNvSpPr txBox="1"/>
          <p:nvPr/>
        </p:nvSpPr>
        <p:spPr>
          <a:xfrm>
            <a:off x="6774018" y="1851103"/>
            <a:ext cx="4278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the size of the attack using alpha.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D7C12DB-DAC4-1D9E-DA82-2FA40A61CADE}"/>
              </a:ext>
            </a:extLst>
          </p:cNvPr>
          <p:cNvCxnSpPr>
            <a:cxnSpLocks/>
          </p:cNvCxnSpPr>
          <p:nvPr/>
        </p:nvCxnSpPr>
        <p:spPr>
          <a:xfrm flipH="1" flipV="1">
            <a:off x="4326673" y="1969371"/>
            <a:ext cx="2447345" cy="3939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BD0D3CB-8554-04AF-1E13-C8481F327BD0}"/>
              </a:ext>
            </a:extLst>
          </p:cNvPr>
          <p:cNvCxnSpPr>
            <a:cxnSpLocks/>
          </p:cNvCxnSpPr>
          <p:nvPr/>
        </p:nvCxnSpPr>
        <p:spPr>
          <a:xfrm flipH="1" flipV="1">
            <a:off x="3080675" y="2670720"/>
            <a:ext cx="1245998" cy="8313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05EEA39-0EB0-E942-3F33-5EBB7E19E680}"/>
              </a:ext>
            </a:extLst>
          </p:cNvPr>
          <p:cNvSpPr txBox="1"/>
          <p:nvPr/>
        </p:nvSpPr>
        <p:spPr>
          <a:xfrm>
            <a:off x="4265412" y="2585036"/>
            <a:ext cx="1605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mulitple</a:t>
            </a:r>
            <a:r>
              <a:rPr lang="en-US" dirty="0"/>
              <a:t> steps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70FA4E-2C7C-ECB5-69CD-B0CA373964EB}"/>
              </a:ext>
            </a:extLst>
          </p:cNvPr>
          <p:cNvSpPr txBox="1"/>
          <p:nvPr/>
        </p:nvSpPr>
        <p:spPr>
          <a:xfrm>
            <a:off x="4173509" y="4860695"/>
            <a:ext cx="7282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FGSM sets alpha=eps instead of optimizing better over 10 steps.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C0D5C5-960A-9CA1-BA82-B0B17CF2CAC0}"/>
              </a:ext>
            </a:extLst>
          </p:cNvPr>
          <p:cNvSpPr txBox="1"/>
          <p:nvPr/>
        </p:nvSpPr>
        <p:spPr>
          <a:xfrm>
            <a:off x="1851095" y="6286343"/>
            <a:ext cx="9570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FGSM attack is weaker. Taking 10 gradient steps is more effective and better optimized.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4A128A-55EC-35D8-84F0-8B92DE58A73C}"/>
              </a:ext>
            </a:extLst>
          </p:cNvPr>
          <p:cNvCxnSpPr>
            <a:cxnSpLocks/>
          </p:cNvCxnSpPr>
          <p:nvPr/>
        </p:nvCxnSpPr>
        <p:spPr>
          <a:xfrm flipV="1">
            <a:off x="4568368" y="5918002"/>
            <a:ext cx="2389781" cy="36834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A5F0F2D-3E01-F1E5-EC9B-18FD8917C231}"/>
              </a:ext>
            </a:extLst>
          </p:cNvPr>
          <p:cNvCxnSpPr>
            <a:cxnSpLocks/>
          </p:cNvCxnSpPr>
          <p:nvPr/>
        </p:nvCxnSpPr>
        <p:spPr>
          <a:xfrm flipV="1">
            <a:off x="7787040" y="5963960"/>
            <a:ext cx="1356960" cy="36830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0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E10B-5E02-0CE3-5E69-36C4AA4F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An Example of an Adversarial Attack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F23429-088B-9DAB-5E50-EC6A5A689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053" y="1020817"/>
            <a:ext cx="6985539" cy="5649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330A63-F9CD-D2D9-AE4E-31EC293A066A}"/>
              </a:ext>
            </a:extLst>
          </p:cNvPr>
          <p:cNvSpPr txBox="1"/>
          <p:nvPr/>
        </p:nvSpPr>
        <p:spPr>
          <a:xfrm>
            <a:off x="7524205" y="1325563"/>
            <a:ext cx="4416530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Reduced ejection fraction is </a:t>
            </a:r>
          </a:p>
          <a:p>
            <a:r>
              <a:rPr lang="en-US" sz="2400" dirty="0"/>
              <a:t>correctly classified.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 small attack keeps the same</a:t>
            </a:r>
          </a:p>
          <a:p>
            <a:r>
              <a:rPr lang="en-US" sz="2400" dirty="0"/>
              <a:t>look but now gets misclassified!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Noise that was added to the</a:t>
            </a:r>
          </a:p>
          <a:p>
            <a:r>
              <a:rPr lang="en-US" sz="2400" dirty="0"/>
              <a:t>original (=top video).   </a:t>
            </a:r>
          </a:p>
        </p:txBody>
      </p:sp>
    </p:spTree>
    <p:extLst>
      <p:ext uri="{BB962C8B-B14F-4D97-AF65-F5344CB8AC3E}">
        <p14:creationId xmlns:p14="http://schemas.microsoft.com/office/powerpoint/2010/main" val="244867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6A1E-7063-83B0-5645-69446A8A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743"/>
            <a:ext cx="10515600" cy="81053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Adversarial Training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3956D-7700-47DE-A276-192E7895C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96" y="949235"/>
            <a:ext cx="10265661" cy="5303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204CDA-9701-4C5A-A595-A2C0CFA71AD2}"/>
              </a:ext>
            </a:extLst>
          </p:cNvPr>
          <p:cNvSpPr txBox="1"/>
          <p:nvPr/>
        </p:nvSpPr>
        <p:spPr>
          <a:xfrm>
            <a:off x="7767305" y="780042"/>
            <a:ext cx="3777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Achieve fast convergence by training</a:t>
            </a:r>
          </a:p>
          <a:p>
            <a:r>
              <a:rPr lang="en-US" dirty="0"/>
              <a:t>scheduling the learning rate.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844B0F-A4C2-D71E-7579-FDAB6DB24743}"/>
              </a:ext>
            </a:extLst>
          </p:cNvPr>
          <p:cNvCxnSpPr>
            <a:cxnSpLocks/>
          </p:cNvCxnSpPr>
          <p:nvPr/>
        </p:nvCxnSpPr>
        <p:spPr>
          <a:xfrm flipH="1">
            <a:off x="7384129" y="1224423"/>
            <a:ext cx="383176" cy="390935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FA00F7F-44FC-B919-30D6-0815BA63DC3D}"/>
              </a:ext>
            </a:extLst>
          </p:cNvPr>
          <p:cNvSpPr txBox="1"/>
          <p:nvPr/>
        </p:nvSpPr>
        <p:spPr>
          <a:xfrm>
            <a:off x="6833694" y="2259877"/>
            <a:ext cx="4397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Linearly increase eps and then keep at 1.0.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343BF2-F089-6B03-E1D7-3EAAFEE88B80}"/>
              </a:ext>
            </a:extLst>
          </p:cNvPr>
          <p:cNvCxnSpPr>
            <a:cxnSpLocks/>
          </p:cNvCxnSpPr>
          <p:nvPr/>
        </p:nvCxnSpPr>
        <p:spPr>
          <a:xfrm flipH="1">
            <a:off x="4162697" y="2435330"/>
            <a:ext cx="2670997" cy="342704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D5B2DC-0886-FBA2-5A90-1BFF2623DC66}"/>
              </a:ext>
            </a:extLst>
          </p:cNvPr>
          <p:cNvSpPr txBox="1"/>
          <p:nvPr/>
        </p:nvSpPr>
        <p:spPr>
          <a:xfrm>
            <a:off x="8217066" y="3218603"/>
            <a:ext cx="397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Attack x but keep the label y the same.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E41B66-2C70-30BC-E348-303FFEDBB07F}"/>
              </a:ext>
            </a:extLst>
          </p:cNvPr>
          <p:cNvCxnSpPr>
            <a:cxnSpLocks/>
          </p:cNvCxnSpPr>
          <p:nvPr/>
        </p:nvCxnSpPr>
        <p:spPr>
          <a:xfrm flipH="1" flipV="1">
            <a:off x="3814354" y="3218603"/>
            <a:ext cx="4402712" cy="166075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4F2035-D6C6-5EF8-B37B-1AAC733E8AB9}"/>
              </a:ext>
            </a:extLst>
          </p:cNvPr>
          <p:cNvSpPr txBox="1"/>
          <p:nvPr/>
        </p:nvSpPr>
        <p:spPr>
          <a:xfrm>
            <a:off x="6626515" y="1890545"/>
            <a:ext cx="5242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Prevent zero-gradient components through scaling.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78BFA55-F828-8AA7-9A62-FE6E2E64A886}"/>
              </a:ext>
            </a:extLst>
          </p:cNvPr>
          <p:cNvCxnSpPr>
            <a:cxnSpLocks/>
          </p:cNvCxnSpPr>
          <p:nvPr/>
        </p:nvCxnSpPr>
        <p:spPr>
          <a:xfrm flipH="1" flipV="1">
            <a:off x="4839419" y="1890545"/>
            <a:ext cx="1811572" cy="162876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168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E7B5-450A-36AF-D4F0-AF3CA9710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Fast training using</a:t>
            </a:r>
            <a:br>
              <a:rPr lang="en-US" dirty="0"/>
            </a:br>
            <a:r>
              <a:rPr lang="en-US" dirty="0"/>
              <a:t>learning rate and momentum scheduling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8CC44-32F0-D827-E77E-7D5863B0C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990" y="1325563"/>
            <a:ext cx="8776019" cy="54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0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9A43-C4BB-4AC7-7D15-66A58701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Improved results for reasonable attacks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CED008-C0A4-726A-1B16-1FDB04B68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4487" y="1221519"/>
            <a:ext cx="7686946" cy="528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273</Words>
  <Application>Microsoft Macintosh PowerPoint</Application>
  <PresentationFormat>Widescreen</PresentationFormat>
  <Paragraphs>38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Adversarial Training</vt:lpstr>
      <vt:lpstr>Simulated videos for EF=20 (left), EF=70 (right)</vt:lpstr>
      <vt:lpstr>Adversarial attack over mask, random start, and steps</vt:lpstr>
      <vt:lpstr>An Example of an Adversarial Attack</vt:lpstr>
      <vt:lpstr>Adversarial Training</vt:lpstr>
      <vt:lpstr>Fast training using learning rate and momentum scheduling</vt:lpstr>
      <vt:lpstr>Improved results for reasonable attacks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16</cp:revision>
  <dcterms:created xsi:type="dcterms:W3CDTF">2026-09-26T17:37:47Z</dcterms:created>
  <dcterms:modified xsi:type="dcterms:W3CDTF">2026-09-27T23:17:45Z</dcterms:modified>
</cp:coreProperties>
</file>